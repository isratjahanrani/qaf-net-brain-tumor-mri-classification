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2.svg" ContentType="image/svg+xml"/>
  <Override PartName="/ppt/media/image-10-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Inter Bold"/>
      <p:regular r:id="rId201314"/>
    </p:embeddedFont>
    <p:embeddedFont>
      <p:font typeface="Inter"/>
      <p:regular r:id="rId201315"/>
    </p:embeddedFont>
    <p:embeddedFont>
      <p:font typeface="Petrona Bol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ype="http://schemas.openxmlformats.org/officeDocument/2006/relationships/font" Target="fonts/201314.fntdata"/><Relationship Id="rId201315" Type="http://schemas.openxmlformats.org/officeDocument/2006/relationships/font" Target="fonts/201315.fntdata"/><Relationship Id="rId201316" Type="http://schemas.openxmlformats.org/officeDocument/2006/relationships/font" Target="fonts/2013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eg"/><Relationship Id="rId2" Type="http://schemas.openxmlformats.org/officeDocument/2006/relationships/image" Target="../media/image-1002-2.png"/><Relationship Id="rId3" Type="http://schemas.openxmlformats.org/officeDocument/2006/relationships/hyperlink" Target="https://gamma.app/?utm_source=made-with-gamma" TargetMode="External"/><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mailto:sshakhawat221407@bscse.uiu.ac.bd" TargetMode="External"/><Relationship Id="rId2" Type="http://schemas.openxmlformats.org/officeDocument/2006/relationships/image" Target="../media/image-1-1.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jpe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3-4.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8-2.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1.png"/><Relationship Id="rId4" Type="http://schemas.openxmlformats.org/officeDocument/2006/relationships/image" Target="../media/image-10-2.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5.png"/><Relationship Id="rId8" Type="http://schemas.openxmlformats.org/officeDocument/2006/relationships/image" Target="../media/image-10-6.svg"/><Relationship Id="rId9" Type="http://schemas.openxmlformats.org/officeDocument/2006/relationships/image" Target="../media/image-10-9.png"/><Relationship Id="rId10" Type="http://schemas.openxmlformats.org/officeDocument/2006/relationships/slideLayout" Target="../slideLayouts/slideLayout2.xml"/><Relationship Id="rId11"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541040"/>
            <a:ext cx="10868745" cy="1162844"/>
          </a:xfrm>
          <a:prstGeom prst="rect">
            <a:avLst/>
          </a:prstGeom>
          <a:noFill/>
          <a:ln/>
        </p:spPr>
        <p:txBody>
          <a:bodyPr wrap="square" lIns="0" tIns="0" rIns="0" bIns="0" rtlCol="0" anchor="t"/>
          <a:lstStyle/>
          <a:p>
            <a:pPr algn="l" indent="0" marL="0">
              <a:lnSpc>
                <a:spcPct val="104000"/>
              </a:lnSpc>
              <a:buNone/>
            </a:pPr>
            <a:r>
              <a:rPr lang="en-US" sz="3650" b="1" dirty="0">
                <a:solidFill>
                  <a:srgbClr val="000000"/>
                </a:solidFill>
                <a:latin typeface="Petrona Bold" pitchFamily="34" charset="0"/>
                <a:ea typeface="Petrona Bold" pitchFamily="34" charset="-122"/>
                <a:cs typeface="Petrona Bold" pitchFamily="34" charset="-120"/>
              </a:rPr>
              <a:t>QAF-Net: Federated, Quantized Brain Tumour MRI Classification</a:t>
            </a:r>
            <a:endParaRPr lang="en-US" sz="3650" dirty="0"/>
          </a:p>
        </p:txBody>
      </p:sp>
      <p:sp>
        <p:nvSpPr>
          <p:cNvPr id="3" name="Text 1"/>
          <p:cNvSpPr/>
          <p:nvPr/>
        </p:nvSpPr>
        <p:spPr>
          <a:xfrm>
            <a:off x="661475" y="2036068"/>
            <a:ext cx="10868745" cy="549275"/>
          </a:xfrm>
          <a:prstGeom prst="rect">
            <a:avLst/>
          </a:prstGeom>
          <a:noFill/>
          <a:ln/>
        </p:spPr>
        <p:txBody>
          <a:bodyPr wrap="square" lIns="0" tIns="0" rIns="0" bIns="0" rtlCol="0" anchor="t"/>
          <a:lstStyle/>
          <a:p>
            <a:pPr algn="l" indent="0" marL="0">
              <a:lnSpc>
                <a:spcPct val="129000"/>
              </a:lnSpc>
              <a:buNone/>
            </a:pPr>
            <a:r>
              <a:rPr lang="en-US" sz="1350" dirty="0">
                <a:solidFill>
                  <a:srgbClr val="272525"/>
                </a:solidFill>
                <a:latin typeface="Inter" pitchFamily="34" charset="0"/>
                <a:ea typeface="Inter" pitchFamily="34" charset="-122"/>
                <a:cs typeface="Inter" pitchFamily="34" charset="-120"/>
              </a:rPr>
              <a:t>Digital Image Processing project, United International University</a:t>
            </a:r>
            <a:endParaRPr lang="en-US" sz="1350" dirty="0"/>
          </a:p>
          <a:p>
            <a:pPr algn="l" indent="0" marL="0">
              <a:lnSpc>
                <a:spcPct val="129000"/>
              </a:lnSpc>
              <a:buNone/>
            </a:pPr>
            <a:r>
              <a:rPr lang="en-US" sz="1350" dirty="0">
                <a:solidFill>
                  <a:srgbClr val="272525"/>
                </a:solidFill>
                <a:latin typeface="Inter" pitchFamily="34" charset="0"/>
                <a:ea typeface="Inter" pitchFamily="34" charset="-122"/>
                <a:cs typeface="Inter" pitchFamily="34" charset="-120"/>
              </a:rPr>
              <a:t>Department of Computer Science and Engineering, Dhaka, Bangladesh</a:t>
            </a:r>
            <a:endParaRPr lang="en-US" sz="1350" dirty="0"/>
          </a:p>
        </p:txBody>
      </p:sp>
      <p:sp>
        <p:nvSpPr>
          <p:cNvPr id="4" name="Shape 2"/>
          <p:cNvSpPr/>
          <p:nvPr/>
        </p:nvSpPr>
        <p:spPr>
          <a:xfrm>
            <a:off x="661475" y="2772172"/>
            <a:ext cx="5351329" cy="657820"/>
          </a:xfrm>
          <a:prstGeom prst="roundRect">
            <a:avLst>
              <a:gd name="adj" fmla="val 11314"/>
            </a:avLst>
          </a:prstGeom>
          <a:solidFill>
            <a:srgbClr val="CCEEFF"/>
          </a:solidFill>
          <a:ln w="6350">
            <a:solidFill>
              <a:srgbClr val="B2D4E5"/>
            </a:solidFill>
            <a:prstDash val="solid"/>
          </a:ln>
        </p:spPr>
      </p:sp>
      <p:sp>
        <p:nvSpPr>
          <p:cNvPr id="5" name="Text 3"/>
          <p:cNvSpPr/>
          <p:nvPr/>
        </p:nvSpPr>
        <p:spPr>
          <a:xfrm>
            <a:off x="845025" y="2955727"/>
            <a:ext cx="4984228" cy="290711"/>
          </a:xfrm>
          <a:prstGeom prst="rect">
            <a:avLst/>
          </a:prstGeom>
          <a:noFill/>
          <a:ln/>
        </p:spPr>
        <p:txBody>
          <a:bodyPr wrap="none" lIns="0" tIns="0" rIns="0" bIns="0" rtlCol="0" anchor="t"/>
          <a:lstStyle/>
          <a:p>
            <a:pPr algn="l" indent="0" marL="0">
              <a:lnSpc>
                <a:spcPct val="104000"/>
              </a:lnSpc>
              <a:buNone/>
            </a:pPr>
            <a:r>
              <a:rPr lang="en-US" sz="1800" b="1" dirty="0">
                <a:solidFill>
                  <a:srgbClr val="272525"/>
                </a:solidFill>
                <a:latin typeface="Petrona Bold" pitchFamily="34" charset="0"/>
                <a:ea typeface="Petrona Bold" pitchFamily="34" charset="-122"/>
                <a:cs typeface="Petrona Bold" pitchFamily="34" charset="-120"/>
              </a:rPr>
              <a:t>Samsad Ibne Shakhawat</a:t>
            </a:r>
            <a:endParaRPr lang="en-US" sz="1800" dirty="0"/>
          </a:p>
        </p:txBody>
      </p:sp>
      <p:sp>
        <p:nvSpPr>
          <p:cNvPr id="6" name="Shape 4"/>
          <p:cNvSpPr/>
          <p:nvPr/>
        </p:nvSpPr>
        <p:spPr>
          <a:xfrm>
            <a:off x="6178892" y="2772172"/>
            <a:ext cx="5351329" cy="657820"/>
          </a:xfrm>
          <a:prstGeom prst="roundRect">
            <a:avLst>
              <a:gd name="adj" fmla="val 11314"/>
            </a:avLst>
          </a:prstGeom>
          <a:solidFill>
            <a:srgbClr val="CCEEFF"/>
          </a:solidFill>
          <a:ln w="6350">
            <a:solidFill>
              <a:srgbClr val="B2D4E5"/>
            </a:solidFill>
            <a:prstDash val="solid"/>
          </a:ln>
        </p:spPr>
      </p:sp>
      <p:sp>
        <p:nvSpPr>
          <p:cNvPr id="7" name="Text 5"/>
          <p:cNvSpPr/>
          <p:nvPr/>
        </p:nvSpPr>
        <p:spPr>
          <a:xfrm>
            <a:off x="6362442" y="2955727"/>
            <a:ext cx="4984228" cy="290711"/>
          </a:xfrm>
          <a:prstGeom prst="rect">
            <a:avLst/>
          </a:prstGeom>
          <a:noFill/>
          <a:ln/>
        </p:spPr>
        <p:txBody>
          <a:bodyPr wrap="none" lIns="0" tIns="0" rIns="0" bIns="0" rtlCol="0" anchor="t"/>
          <a:lstStyle/>
          <a:p>
            <a:pPr algn="l" indent="0" marL="0">
              <a:lnSpc>
                <a:spcPct val="104000"/>
              </a:lnSpc>
              <a:buNone/>
            </a:pPr>
            <a:r>
              <a:rPr lang="en-US" sz="1800" b="1" dirty="0">
                <a:solidFill>
                  <a:srgbClr val="272525"/>
                </a:solidFill>
                <a:latin typeface="Petrona Bold" pitchFamily="34" charset="0"/>
                <a:ea typeface="Petrona Bold" pitchFamily="34" charset="-122"/>
                <a:cs typeface="Petrona Bold" pitchFamily="34" charset="-120"/>
              </a:rPr>
              <a:t>Israt Jahan Rani</a:t>
            </a:r>
            <a:endParaRPr lang="en-US" sz="1800" dirty="0"/>
          </a:p>
        </p:txBody>
      </p:sp>
      <p:sp>
        <p:nvSpPr>
          <p:cNvPr id="8" name="Shape 6"/>
          <p:cNvSpPr/>
          <p:nvPr/>
        </p:nvSpPr>
        <p:spPr>
          <a:xfrm>
            <a:off x="661475" y="3596084"/>
            <a:ext cx="5351329" cy="657820"/>
          </a:xfrm>
          <a:prstGeom prst="roundRect">
            <a:avLst>
              <a:gd name="adj" fmla="val 11314"/>
            </a:avLst>
          </a:prstGeom>
          <a:solidFill>
            <a:srgbClr val="CCEEFF"/>
          </a:solidFill>
          <a:ln w="6350">
            <a:solidFill>
              <a:srgbClr val="B2D4E5"/>
            </a:solidFill>
            <a:prstDash val="solid"/>
          </a:ln>
        </p:spPr>
      </p:sp>
      <p:sp>
        <p:nvSpPr>
          <p:cNvPr id="9" name="Text 7"/>
          <p:cNvSpPr/>
          <p:nvPr/>
        </p:nvSpPr>
        <p:spPr>
          <a:xfrm>
            <a:off x="845025" y="3779639"/>
            <a:ext cx="4984228" cy="290711"/>
          </a:xfrm>
          <a:prstGeom prst="rect">
            <a:avLst/>
          </a:prstGeom>
          <a:noFill/>
          <a:ln/>
        </p:spPr>
        <p:txBody>
          <a:bodyPr wrap="none" lIns="0" tIns="0" rIns="0" bIns="0" rtlCol="0" anchor="t"/>
          <a:lstStyle/>
          <a:p>
            <a:pPr algn="l" indent="0" marL="0">
              <a:lnSpc>
                <a:spcPct val="104000"/>
              </a:lnSpc>
              <a:buNone/>
            </a:pPr>
            <a:r>
              <a:rPr lang="en-US" sz="1800" b="1" dirty="0">
                <a:solidFill>
                  <a:srgbClr val="272525"/>
                </a:solidFill>
                <a:latin typeface="Petrona Bold" pitchFamily="34" charset="0"/>
                <a:ea typeface="Petrona Bold" pitchFamily="34" charset="-122"/>
                <a:cs typeface="Petrona Bold" pitchFamily="34" charset="-120"/>
              </a:rPr>
              <a:t>Robiul Islam Tamim</a:t>
            </a:r>
            <a:endParaRPr lang="en-US" sz="1800" dirty="0"/>
          </a:p>
        </p:txBody>
      </p:sp>
      <p:sp>
        <p:nvSpPr>
          <p:cNvPr id="10" name="Shape 8"/>
          <p:cNvSpPr/>
          <p:nvPr/>
        </p:nvSpPr>
        <p:spPr>
          <a:xfrm>
            <a:off x="6178892" y="3596084"/>
            <a:ext cx="5351329" cy="657820"/>
          </a:xfrm>
          <a:prstGeom prst="roundRect">
            <a:avLst>
              <a:gd name="adj" fmla="val 11314"/>
            </a:avLst>
          </a:prstGeom>
          <a:solidFill>
            <a:srgbClr val="CCEEFF"/>
          </a:solidFill>
          <a:ln w="6350">
            <a:solidFill>
              <a:srgbClr val="B2D4E5"/>
            </a:solidFill>
            <a:prstDash val="solid"/>
          </a:ln>
        </p:spPr>
      </p:sp>
      <p:sp>
        <p:nvSpPr>
          <p:cNvPr id="11" name="Text 9"/>
          <p:cNvSpPr/>
          <p:nvPr/>
        </p:nvSpPr>
        <p:spPr>
          <a:xfrm>
            <a:off x="6362442" y="3779639"/>
            <a:ext cx="4984228" cy="290711"/>
          </a:xfrm>
          <a:prstGeom prst="rect">
            <a:avLst/>
          </a:prstGeom>
          <a:noFill/>
          <a:ln/>
        </p:spPr>
        <p:txBody>
          <a:bodyPr wrap="none" lIns="0" tIns="0" rIns="0" bIns="0" rtlCol="0" anchor="t"/>
          <a:lstStyle/>
          <a:p>
            <a:pPr algn="l" indent="0" marL="0">
              <a:lnSpc>
                <a:spcPct val="104000"/>
              </a:lnSpc>
              <a:buNone/>
            </a:pPr>
            <a:r>
              <a:rPr lang="en-US" sz="1800" b="1" dirty="0">
                <a:solidFill>
                  <a:srgbClr val="272525"/>
                </a:solidFill>
                <a:latin typeface="Petrona Bold" pitchFamily="34" charset="0"/>
                <a:ea typeface="Petrona Bold" pitchFamily="34" charset="-122"/>
                <a:cs typeface="Petrona Bold" pitchFamily="34" charset="-120"/>
              </a:rPr>
              <a:t>Most. Jaynabunnessa Rumi</a:t>
            </a:r>
            <a:endParaRPr lang="en-US" sz="1800" dirty="0"/>
          </a:p>
        </p:txBody>
      </p:sp>
      <p:sp>
        <p:nvSpPr>
          <p:cNvPr id="12" name="Text 10"/>
          <p:cNvSpPr/>
          <p:nvPr/>
        </p:nvSpPr>
        <p:spPr>
          <a:xfrm>
            <a:off x="661475" y="4440734"/>
            <a:ext cx="10868745" cy="736104"/>
          </a:xfrm>
          <a:prstGeom prst="rect">
            <a:avLst/>
          </a:prstGeom>
          <a:noFill/>
          <a:ln/>
        </p:spPr>
        <p:txBody>
          <a:bodyPr wrap="square" lIns="0" tIns="0" rIns="0" bIns="0" rtlCol="0" anchor="t"/>
          <a:lstStyle/>
          <a:p>
            <a:pPr algn="l" indent="0" marL="0">
              <a:lnSpc>
                <a:spcPct val="129000"/>
              </a:lnSpc>
              <a:spcAft>
                <a:spcPts val="1450"/>
              </a:spcAft>
              <a:buNone/>
            </a:pPr>
            <a:r>
              <a:rPr lang="en-US" sz="1350" i="1" dirty="0">
                <a:solidFill>
                  <a:srgbClr val="272525"/>
                </a:solidFill>
                <a:latin typeface="Inter" pitchFamily="34" charset="0"/>
                <a:ea typeface="Inter" pitchFamily="34" charset="-122"/>
                <a:cs typeface="Inter" pitchFamily="34" charset="-120"/>
              </a:rPr>
              <a:t>Privacy-preserving training, integer-only inference, and a new hospital the model has never seen.</a:t>
            </a:r>
            <a:endParaRPr lang="en-US" sz="1350" dirty="0"/>
          </a:p>
          <a:p>
            <a:pPr algn="l" indent="0" marL="0">
              <a:lnSpc>
                <a:spcPct val="129000"/>
              </a:lnSpc>
              <a:buNone/>
            </a:pPr>
            <a:r>
              <a:rPr lang="en-US" sz="1350" b="1" u="sng" dirty="0">
                <a:solidFill>
                  <a:srgbClr val="007EBD"/>
                </a:solidFill>
                <a:latin typeface="Inter Bold" pitchFamily="34" charset="0"/>
                <a:ea typeface="Inter Bold" pitchFamily="34" charset="-122"/>
                <a:cs typeface="Inter Bold" pitchFamily="34" charset="-120"/>
                <a:hlinkClick r:id="rId1" invalidUrl="" action="" tgtFrame="" tooltip="" history="1" highlightClick="0" endSnd="0">
                  <a:extLst>
                    <a:ext uri="{A12FA001-AC4F-418D-AE19-62706E023703}">
                      <ahyp:hlinkClr xmlns:ahyp="http://schemas.microsoft.com/office/drawing/2018/hyperlinkcolor" val="tx"/>
                    </a:ext>
                  </a:extLst>
                </a:hlinkClick>
              </a:rPr>
              <a:t>sshakhawat221407@bscse.uiu.ac.bd</a:t>
            </a:r>
            <a:endParaRPr lang="en-US" sz="1350" dirty="0"/>
          </a:p>
        </p:txBody>
      </p:sp>
      <p:sp>
        <p:nvSpPr>
          <p:cNvPr id="13" name="Shape 11"/>
          <p:cNvSpPr/>
          <p:nvPr/>
        </p:nvSpPr>
        <p:spPr>
          <a:xfrm>
            <a:off x="661475" y="5363666"/>
            <a:ext cx="10868745" cy="953294"/>
          </a:xfrm>
          <a:prstGeom prst="roundRect">
            <a:avLst>
              <a:gd name="adj" fmla="val 7807"/>
            </a:avLst>
          </a:prstGeom>
          <a:solidFill>
            <a:srgbClr val="CCEEFF"/>
          </a:solidFill>
          <a:ln/>
        </p:spPr>
      </p:sp>
      <p:pic>
        <p:nvPicPr>
          <p:cNvPr id="14" name="Image 0" descr="preencoded.png">    </p:cNvPr>
          <p:cNvPicPr>
            <a:picLocks noChangeAspect="1"/>
          </p:cNvPicPr>
          <p:nvPr/>
        </p:nvPicPr>
        <p:blipFill>
          <a:blip r:embed="rId2"/>
          <a:stretch>
            <a:fillRect/>
          </a:stretch>
        </p:blipFill>
        <p:spPr>
          <a:xfrm>
            <a:off x="838675" y="5603081"/>
            <a:ext cx="221451" cy="177205"/>
          </a:xfrm>
          <a:prstGeom prst="rect">
            <a:avLst/>
          </a:prstGeom>
        </p:spPr>
      </p:pic>
      <p:sp>
        <p:nvSpPr>
          <p:cNvPr id="15" name="Text 12"/>
          <p:cNvSpPr/>
          <p:nvPr/>
        </p:nvSpPr>
        <p:spPr>
          <a:xfrm>
            <a:off x="1237326" y="5574010"/>
            <a:ext cx="10115694" cy="549275"/>
          </a:xfrm>
          <a:prstGeom prst="rect">
            <a:avLst/>
          </a:prstGeom>
          <a:noFill/>
          <a:ln/>
        </p:spPr>
        <p:txBody>
          <a:bodyPr wrap="square" lIns="0" tIns="0" rIns="0" bIns="0" rtlCol="0" anchor="t"/>
          <a:lstStyle/>
          <a:p>
            <a:pPr algn="l" indent="0" marL="0">
              <a:lnSpc>
                <a:spcPct val="129000"/>
              </a:lnSpc>
              <a:buNone/>
            </a:pPr>
            <a:r>
              <a:rPr lang="en-US" sz="1350" dirty="0">
                <a:solidFill>
                  <a:srgbClr val="000000"/>
                </a:solidFill>
                <a:latin typeface="Inter" pitchFamily="34" charset="0"/>
                <a:ea typeface="Inter" pitchFamily="34" charset="-122"/>
                <a:cs typeface="Inter" pitchFamily="34" charset="-120"/>
              </a:rPr>
              <a:t>This card presents the project title, team members, and institutional affiliation. The core contribution addresses three simultaneous real-world constraints: data privacy, hardware limitations, and domain generalization to unseen hospitals.</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540643"/>
            <a:ext cx="10868745" cy="542727"/>
          </a:xfrm>
          <a:prstGeom prst="rect">
            <a:avLst/>
          </a:prstGeom>
          <a:noFill/>
          <a:ln/>
        </p:spPr>
        <p:txBody>
          <a:bodyPr wrap="none" lIns="0" tIns="0" rIns="0" bIns="0" rtlCol="0" anchor="t"/>
          <a:lstStyle/>
          <a:p>
            <a:pPr algn="l" indent="0" marL="0">
              <a:lnSpc>
                <a:spcPct val="104000"/>
              </a:lnSpc>
              <a:buNone/>
            </a:pPr>
            <a:r>
              <a:rPr lang="en-US" sz="3400" b="1" dirty="0">
                <a:solidFill>
                  <a:srgbClr val="000000"/>
                </a:solidFill>
                <a:latin typeface="Petrona Bold" pitchFamily="34" charset="0"/>
                <a:ea typeface="Petrona Bold" pitchFamily="34" charset="-122"/>
                <a:cs typeface="Petrona Bold" pitchFamily="34" charset="-120"/>
              </a:rPr>
              <a:t>The Problem Is Not Accuracy</a:t>
            </a:r>
            <a:endParaRPr lang="en-US" sz="3400" dirty="0"/>
          </a:p>
        </p:txBody>
      </p:sp>
      <p:pic>
        <p:nvPicPr>
          <p:cNvPr id="3" name="Image 0" descr="preencoded.png">    </p:cNvPr>
          <p:cNvPicPr>
            <a:picLocks noChangeAspect="1"/>
          </p:cNvPicPr>
          <p:nvPr/>
        </p:nvPicPr>
        <p:blipFill>
          <a:blip r:embed="rId1"/>
          <a:stretch>
            <a:fillRect/>
          </a:stretch>
        </p:blipFill>
        <p:spPr>
          <a:xfrm>
            <a:off x="661475" y="1463080"/>
            <a:ext cx="6923410" cy="3923308"/>
          </a:xfrm>
          <a:prstGeom prst="rect">
            <a:avLst/>
          </a:prstGeom>
        </p:spPr>
      </p:pic>
      <p:sp>
        <p:nvSpPr>
          <p:cNvPr id="4" name="Text 1"/>
          <p:cNvSpPr/>
          <p:nvPr/>
        </p:nvSpPr>
        <p:spPr>
          <a:xfrm>
            <a:off x="7994648" y="1463040"/>
            <a:ext cx="3541822" cy="3922776"/>
          </a:xfrm>
          <a:prstGeom prst="rect">
            <a:avLst/>
          </a:prstGeom>
          <a:noFill/>
          <a:ln/>
        </p:spPr>
        <p:txBody>
          <a:bodyPr wrap="square" lIns="0" tIns="0" rIns="0" bIns="0" rtlCol="0" anchor="ctr"/>
          <a:lstStyle/>
          <a:p>
            <a:pPr algn="l" marL="264160" indent="-264160">
              <a:lnSpc>
                <a:spcPct val="125000"/>
              </a:lnSpc>
              <a:spcAft>
                <a:spcPts val="600"/>
              </a:spcAft>
              <a:buSzPct val="100000"/>
              <a:buChar char="•"/>
            </a:pPr>
            <a:r>
              <a:rPr lang="en-US" sz="1400" dirty="0">
                <a:solidFill>
                  <a:srgbClr val="272525"/>
                </a:solidFill>
                <a:latin typeface="Inter" pitchFamily="34" charset="0"/>
                <a:ea typeface="Inter" pitchFamily="34" charset="-122"/>
                <a:cs typeface="Inter" pitchFamily="34" charset="-120"/>
              </a:rPr>
              <a:t>Published CNNs report over 98% accuracy on public data.</a:t>
            </a:r>
            <a:endParaRPr lang="en-US" sz="1400" dirty="0"/>
          </a:p>
          <a:p>
            <a:pPr algn="l" marL="264160" indent="-264160">
              <a:lnSpc>
                <a:spcPct val="125000"/>
              </a:lnSpc>
              <a:spcAft>
                <a:spcPts val="600"/>
              </a:spcAft>
              <a:buSzPct val="100000"/>
              <a:buChar char="•"/>
            </a:pPr>
            <a:r>
              <a:rPr lang="en-US" sz="1400" dirty="0">
                <a:solidFill>
                  <a:srgbClr val="272525"/>
                </a:solidFill>
                <a:latin typeface="Inter" pitchFamily="34" charset="0"/>
                <a:ea typeface="Inter" pitchFamily="34" charset="-122"/>
                <a:cs typeface="Inter" pitchFamily="34" charset="-120"/>
              </a:rPr>
              <a:t>Deployed systems remain rare in low-resource hospitals.</a:t>
            </a:r>
            <a:endParaRPr lang="en-US" sz="1400" dirty="0"/>
          </a:p>
          <a:p>
            <a:pPr algn="l" marL="264160" indent="-264160">
              <a:lnSpc>
                <a:spcPct val="125000"/>
              </a:lnSpc>
              <a:spcAft>
                <a:spcPts val="600"/>
              </a:spcAft>
              <a:buSzPct val="100000"/>
              <a:buChar char="•"/>
            </a:pPr>
            <a:r>
              <a:rPr lang="en-US" sz="1400" dirty="0">
                <a:solidFill>
                  <a:srgbClr val="272525"/>
                </a:solidFill>
                <a:latin typeface="Inter" pitchFamily="34" charset="0"/>
                <a:ea typeface="Inter" pitchFamily="34" charset="-122"/>
                <a:cs typeface="Inter" pitchFamily="34" charset="-120"/>
              </a:rPr>
              <a:t>Three constraints hold at once: data cannot leave; no GPU; unseen scanner.</a:t>
            </a:r>
            <a:endParaRPr lang="en-US" sz="1400" dirty="0"/>
          </a:p>
          <a:p>
            <a:pPr algn="l" marL="264160" indent="-264160">
              <a:lnSpc>
                <a:spcPct val="125000"/>
              </a:lnSpc>
              <a:spcAft>
                <a:spcPts val="600"/>
              </a:spcAft>
              <a:buSzPct val="100000"/>
              <a:buChar char="•"/>
            </a:pPr>
            <a:r>
              <a:rPr lang="en-US" sz="1400" dirty="0">
                <a:solidFill>
                  <a:srgbClr val="272525"/>
                </a:solidFill>
                <a:latin typeface="Inter" pitchFamily="34" charset="0"/>
                <a:ea typeface="Inter" pitchFamily="34" charset="-122"/>
                <a:cs typeface="Inter" pitchFamily="34" charset="-120"/>
              </a:rPr>
              <a:t>Each constraint is usually studied alone. We studied them together.</a:t>
            </a:r>
            <a:endParaRPr lang="en-US" sz="1400" dirty="0"/>
          </a:p>
        </p:txBody>
      </p:sp>
      <p:sp>
        <p:nvSpPr>
          <p:cNvPr id="5" name="Shape 2"/>
          <p:cNvSpPr/>
          <p:nvPr/>
        </p:nvSpPr>
        <p:spPr>
          <a:xfrm>
            <a:off x="661475" y="5711825"/>
            <a:ext cx="10868745" cy="605433"/>
          </a:xfrm>
          <a:prstGeom prst="roundRect">
            <a:avLst>
              <a:gd name="adj" fmla="val 11473"/>
            </a:avLst>
          </a:prstGeom>
          <a:solidFill>
            <a:srgbClr val="CCEEFF"/>
          </a:solidFill>
          <a:ln/>
        </p:spPr>
      </p:sp>
      <p:pic>
        <p:nvPicPr>
          <p:cNvPr id="6" name="Image 1" descr="preencoded.png">    </p:cNvPr>
          <p:cNvPicPr>
            <a:picLocks noChangeAspect="1"/>
          </p:cNvPicPr>
          <p:nvPr/>
        </p:nvPicPr>
        <p:blipFill>
          <a:blip r:embed="rId2"/>
          <a:stretch>
            <a:fillRect/>
          </a:stretch>
        </p:blipFill>
        <p:spPr>
          <a:xfrm>
            <a:off x="826769" y="5924550"/>
            <a:ext cx="206667" cy="165298"/>
          </a:xfrm>
          <a:prstGeom prst="rect">
            <a:avLst/>
          </a:prstGeom>
        </p:spPr>
      </p:pic>
      <p:sp>
        <p:nvSpPr>
          <p:cNvPr id="7" name="Text 3"/>
          <p:cNvSpPr/>
          <p:nvPr/>
        </p:nvSpPr>
        <p:spPr>
          <a:xfrm>
            <a:off x="1198731" y="5897761"/>
            <a:ext cx="10149840" cy="274320"/>
          </a:xfrm>
          <a:prstGeom prst="rect">
            <a:avLst/>
          </a:prstGeom>
          <a:noFill/>
          <a:ln/>
        </p:spPr>
        <p:txBody>
          <a:bodyPr wrap="square" lIns="0" tIns="0" rIns="0" bIns="0" rtlCol="0" anchor="t"/>
          <a:lstStyle/>
          <a:p>
            <a:pPr algn="l" indent="0" marL="0">
              <a:lnSpc>
                <a:spcPct val="125000"/>
              </a:lnSpc>
              <a:buNone/>
            </a:pPr>
            <a:r>
              <a:rPr lang="en-US" sz="1400" dirty="0">
                <a:solidFill>
                  <a:srgbClr val="000000"/>
                </a:solidFill>
                <a:latin typeface="Inter" pitchFamily="34" charset="0"/>
                <a:ea typeface="Inter" pitchFamily="34" charset="-122"/>
                <a:cs typeface="Inter" pitchFamily="34" charset="-120"/>
              </a:rPr>
              <a:t>A random split of one dataset measures in-distribution performance, not what a new hospital gets on day one.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39496"/>
            <a:ext cx="10868745" cy="566928"/>
          </a:xfrm>
          <a:prstGeom prst="rect">
            <a:avLst/>
          </a:prstGeom>
          <a:noFill/>
          <a:ln/>
        </p:spPr>
        <p:txBody>
          <a:bodyPr wrap="square" lIns="0" tIns="0" rIns="0" bIns="0" rtlCol="0" anchor="t"/>
          <a:lstStyle/>
          <a:p>
            <a:pPr algn="l" indent="0" marL="0">
              <a:lnSpc>
                <a:spcPct val="104000"/>
              </a:lnSpc>
              <a:buNone/>
            </a:pPr>
            <a:r>
              <a:rPr lang="en-US" sz="3400" b="1" dirty="0">
                <a:solidFill>
                  <a:srgbClr val="000000"/>
                </a:solidFill>
                <a:latin typeface="Petrona Bold" pitchFamily="34" charset="0"/>
                <a:ea typeface="Petrona Bold" pitchFamily="34" charset="-122"/>
                <a:cs typeface="Petrona Bold" pitchFamily="34" charset="-120"/>
              </a:rPr>
              <a:t>Our Hypothesis and Our Method</a:t>
            </a:r>
            <a:endParaRPr lang="en-US" sz="3400" dirty="0"/>
          </a:p>
        </p:txBody>
      </p:sp>
      <p:sp>
        <p:nvSpPr>
          <p:cNvPr id="3" name="Text 1"/>
          <p:cNvSpPr/>
          <p:nvPr/>
        </p:nvSpPr>
        <p:spPr>
          <a:xfrm>
            <a:off x="658368" y="1325880"/>
            <a:ext cx="5367528" cy="731520"/>
          </a:xfrm>
          <a:prstGeom prst="rect">
            <a:avLst/>
          </a:prstGeom>
          <a:noFill/>
          <a:ln/>
        </p:spPr>
        <p:txBody>
          <a:bodyPr wrap="square" lIns="0" tIns="0" rIns="0" bIns="0" rtlCol="0" anchor="t"/>
          <a:lstStyle/>
          <a:p>
            <a:pPr algn="l" indent="0" marL="0">
              <a:lnSpc>
                <a:spcPct val="115000"/>
              </a:lnSpc>
              <a:buNone/>
            </a:pPr>
            <a:r>
              <a:rPr lang="en-US" sz="1500" b="1" dirty="0">
                <a:solidFill>
                  <a:srgbClr val="272525"/>
                </a:solidFill>
                <a:latin typeface="Inter Bold" pitchFamily="34" charset="0"/>
                <a:ea typeface="Inter Bold" pitchFamily="34" charset="-122"/>
                <a:cs typeface="Inter Bold" pitchFamily="34" charset="-120"/>
              </a:rPr>
              <a:t>Hypothesis:</a:t>
            </a:r>
            <a:pPr algn="l" indent="0" marL="0">
              <a:lnSpc>
                <a:spcPct val="115000"/>
              </a:lnSpc>
              <a:buNone/>
            </a:pPr>
            <a:r>
              <a:rPr lang="en-US" sz="1500" dirty="0">
                <a:solidFill>
                  <a:srgbClr val="272525"/>
                </a:solidFill>
                <a:latin typeface="Inter" pitchFamily="34" charset="0"/>
                <a:ea typeface="Inter" pitchFamily="34" charset="-122"/>
                <a:cs typeface="Inter" pitchFamily="34" charset="-120"/>
              </a:rPr>
              <a:t> Federated averaging lands in a poor minimum, so INT8 quantization should hurt it more than a centrally trained model.</a:t>
            </a:r>
            <a:endParaRPr lang="en-US" sz="1500" dirty="0"/>
          </a:p>
        </p:txBody>
      </p:sp>
      <p:sp>
        <p:nvSpPr>
          <p:cNvPr id="5" name="Text 2"/>
          <p:cNvSpPr/>
          <p:nvPr/>
        </p:nvSpPr>
        <p:spPr>
          <a:xfrm>
            <a:off x="658368" y="3154680"/>
            <a:ext cx="5367528" cy="777240"/>
          </a:xfrm>
          <a:prstGeom prst="rect">
            <a:avLst/>
          </a:prstGeom>
          <a:noFill/>
          <a:ln/>
        </p:spPr>
        <p:txBody>
          <a:bodyPr wrap="square" lIns="0" tIns="0" rIns="0" bIns="0" rtlCol="0" anchor="t"/>
          <a:lstStyle/>
          <a:p>
            <a:pPr algn="l" indent="0" marL="0">
              <a:lnSpc>
                <a:spcPct val="115000"/>
              </a:lnSpc>
              <a:buNone/>
            </a:pPr>
            <a:pPr algn="l" indent="0" marL="0">
              <a:lnSpc>
                <a:spcPct val="115000"/>
              </a:lnSpc>
              <a:buNone/>
            </a:pPr>
            <a:r>
              <a:rPr lang="en-US" sz="1500" dirty="0">
                <a:solidFill>
                  <a:srgbClr val="272525"/>
                </a:solidFill>
                <a:latin typeface="Inter" pitchFamily="34" charset="0"/>
                <a:ea typeface="Inter" pitchFamily="34" charset="-122"/>
                <a:cs typeface="Inter" pitchFamily="34" charset="-120"/>
              </a:rPr>
              <a:t>Batch-norm stays site-local; a new site re-estimates it from unlabeled scans — no labels, no gradients, no images leave.</a:t>
            </a:r>
            <a:endParaRPr lang="en-US" sz="1500" dirty="0"/>
          </a:p>
        </p:txBody>
      </p:sp>
      <p:sp>
        <p:nvSpPr>
          <p:cNvPr id="7" name="Text 3"/>
          <p:cNvSpPr/>
          <p:nvPr/>
        </p:nvSpPr>
        <p:spPr>
          <a:xfrm>
            <a:off x="658368" y="4023360"/>
            <a:ext cx="5367528" cy="502920"/>
          </a:xfrm>
          <a:prstGeom prst="rect">
            <a:avLst/>
          </a:prstGeom>
          <a:noFill/>
          <a:ln/>
        </p:spPr>
        <p:txBody>
          <a:bodyPr wrap="square" lIns="0" tIns="0" rIns="0" bIns="0" rtlCol="0" anchor="t"/>
          <a:lstStyle/>
          <a:p>
            <a:pPr algn="l" indent="0" marL="0">
              <a:lnSpc>
                <a:spcPct val="115000"/>
              </a:lnSpc>
              <a:buNone/>
            </a:pPr>
            <a:r>
              <a:rPr lang="en-US" sz="1500" dirty="0">
                <a:solidFill>
                  <a:srgbClr val="272525"/>
                </a:solidFill>
                <a:latin typeface="Inter" pitchFamily="34" charset="0"/>
                <a:ea typeface="Inter" pitchFamily="34" charset="-122"/>
                <a:cs typeface="Inter" pitchFamily="34" charset="-120"/>
              </a:rPr>
              <a:t>Compared against FedAvg, FedProx, FedBN, centralized, and single-site training.</a:t>
            </a:r>
            <a:endParaRPr lang="en-US" sz="1500" dirty="0"/>
          </a:p>
        </p:txBody>
      </p:sp>
      <p:pic>
        <p:nvPicPr>
          <p:cNvPr id="8" name="Image 2" descr="preencoded.png">    </p:cNvPr>
          <p:cNvPicPr>
            <a:picLocks noChangeAspect="1"/>
          </p:cNvPicPr>
          <p:nvPr/>
        </p:nvPicPr>
        <p:blipFill>
          <a:blip r:embed="rId3"/>
          <a:srcRect l="3103" t="5967" r="3162" b="8652"/>
          <a:stretch>
            <a:fillRect/>
          </a:stretch>
        </p:blipFill>
        <p:spPr>
          <a:xfrm>
            <a:off x="6391656" y="1371600"/>
            <a:ext cx="5138928" cy="4680971"/>
          </a:xfrm>
          <a:prstGeom prst="rect">
            <a:avLst/>
          </a:prstGeom>
        </p:spPr>
      </p:pic>
      <p:sp>
        <p:nvSpPr>
          <p:cNvPr id="9" name="Shape 4"/>
          <p:cNvSpPr/>
          <p:nvPr/>
        </p:nvSpPr>
        <p:spPr>
          <a:xfrm>
            <a:off x="658368" y="4663440"/>
            <a:ext cx="5367528" cy="1600200"/>
          </a:xfrm>
          <a:prstGeom prst="roundRect">
            <a:avLst>
              <a:gd name="adj" fmla="val 10913"/>
            </a:avLst>
          </a:prstGeom>
          <a:solidFill>
            <a:srgbClr val="CCEEFF"/>
          </a:solidFill>
          <a:ln/>
        </p:spPr>
      </p:sp>
      <p:pic>
        <p:nvPicPr>
          <p:cNvPr id="10" name="Image 3" descr="preencoded.png">    </p:cNvPr>
          <p:cNvPicPr>
            <a:picLocks noChangeAspect="1"/>
          </p:cNvPicPr>
          <p:nvPr/>
        </p:nvPicPr>
        <p:blipFill>
          <a:blip r:embed="rId4"/>
          <a:stretch>
            <a:fillRect/>
          </a:stretch>
        </p:blipFill>
        <p:spPr>
          <a:xfrm>
            <a:off x="841248" y="4846320"/>
            <a:ext cx="192024" cy="146304"/>
          </a:xfrm>
          <a:prstGeom prst="rect">
            <a:avLst/>
          </a:prstGeom>
        </p:spPr>
      </p:pic>
      <p:sp>
        <p:nvSpPr>
          <p:cNvPr id="11" name="Text 5"/>
          <p:cNvSpPr/>
          <p:nvPr/>
        </p:nvSpPr>
        <p:spPr>
          <a:xfrm>
            <a:off x="1188720" y="4800600"/>
            <a:ext cx="4654296" cy="1325880"/>
          </a:xfrm>
          <a:prstGeom prst="rect">
            <a:avLst/>
          </a:prstGeom>
          <a:noFill/>
          <a:ln/>
        </p:spPr>
        <p:txBody>
          <a:bodyPr wrap="square" lIns="0" tIns="0" rIns="0" bIns="0" rtlCol="0" anchor="t"/>
          <a:lstStyle/>
          <a:p>
            <a:pPr algn="l" indent="0" marL="0">
              <a:lnSpc>
                <a:spcPct val="110000"/>
              </a:lnSpc>
              <a:buNone/>
            </a:pPr>
            <a:r>
              <a:rPr lang="en-US" sz="1250" dirty="0">
                <a:solidFill>
                  <a:srgbClr val="000000"/>
                </a:solidFill>
                <a:latin typeface="Inter" pitchFamily="34" charset="0"/>
                <a:ea typeface="Inter" pitchFamily="34" charset="-122"/>
                <a:cs typeface="Inter" pitchFamily="34" charset="-120"/>
              </a:rPr>
              <a:t>This card explains the core hypothesis and the mathematical formulation of the QAF-Net loss function. The three terms are labeled: superset cross-entropy for multi-label classification, FedProx regularization pulling weights toward the global model, and quantization residual pushing weights toward the INT8 integer grid.</a:t>
            </a:r>
            <a:endParaRPr lang="en-US" sz="1250" dirty="0"/>
          </a:p>
        </p:txBody>
      </p:sp>
      <p:sp>
        <p:nvSpPr>
          <p:cNvPr id="12" name="Loss equation"/>
          <p:cNvSpPr/>
          <p:nvPr/>
        </p:nvSpPr>
        <p:spPr>
          <a:xfrm>
            <a:off x="658368" y="2212848"/>
            <a:ext cx="5367527" cy="822960"/>
          </a:xfrm>
          <a:prstGeom prst="roundRect">
            <a:avLst>
              <a:gd name="adj" fmla="val 8000"/>
            </a:avLst>
          </a:prstGeom>
          <a:solidFill>
            <a:srgbClr val="FFFFFF"/>
          </a:solidFill>
          <a:ln w="12700">
            <a:solidFill>
              <a:srgbClr val="B2D4E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09728" tIns="73152" bIns="73152"/>
          <a:lstStyle/>
          <a:p>
            <a:pPr algn="l" marL="0" indent="0">
              <a:lnSpc>
                <a:spcPct val="100000"/>
              </a:lnSpc>
              <a:spcAft>
                <a:spcPts val="400"/>
              </a:spcAft>
              <a:buNone/>
            </a:pPr>
            <a:r>
              <a:rPr lang="en-US" sz="1700" dirty="0" i="1">
                <a:solidFill>
                  <a:srgbClr val="272525"/>
                </a:solidFill>
                <a:latin typeface="Cambria"/>
                <a:ea typeface="Cambria"/>
                <a:cs typeface="Cambria"/>
              </a:rPr>
              <a:t>L</a:t>
            </a:r>
            <a:r>
              <a:rPr lang="en-US" sz="1700" dirty="0" baseline="-25000">
                <a:solidFill>
                  <a:srgbClr val="272525"/>
                </a:solidFill>
                <a:latin typeface="Cambria"/>
                <a:ea typeface="Cambria"/>
                <a:cs typeface="Cambria"/>
              </a:rPr>
              <a:t>local</a:t>
            </a:r>
            <a:r>
              <a:rPr lang="en-US" sz="1700" dirty="0">
                <a:solidFill>
                  <a:srgbClr val="272525"/>
                </a:solidFill>
                <a:latin typeface="Cambria"/>
                <a:ea typeface="Cambria"/>
                <a:cs typeface="Cambria"/>
              </a:rPr>
              <a:t> = </a:t>
            </a:r>
            <a:r>
              <a:rPr lang="en-US" sz="1700" dirty="0" i="1">
                <a:solidFill>
                  <a:srgbClr val="272525"/>
                </a:solidFill>
                <a:latin typeface="Cambria"/>
                <a:ea typeface="Cambria"/>
                <a:cs typeface="Cambria"/>
              </a:rPr>
              <a:t>H</a:t>
            </a:r>
            <a:r>
              <a:rPr lang="en-US" sz="1700" dirty="0" baseline="-25000">
                <a:solidFill>
                  <a:srgbClr val="272525"/>
                </a:solidFill>
                <a:latin typeface="Cambria"/>
                <a:ea typeface="Cambria"/>
                <a:cs typeface="Cambria"/>
              </a:rPr>
              <a:t>superset</a:t>
            </a:r>
            <a:r>
              <a:rPr lang="en-US" sz="1700" dirty="0">
                <a:solidFill>
                  <a:srgbClr val="272525"/>
                </a:solidFill>
                <a:latin typeface="Cambria"/>
                <a:ea typeface="Cambria"/>
                <a:cs typeface="Cambria"/>
              </a:rPr>
              <a:t> + (</a:t>
            </a:r>
            <a:r>
              <a:rPr lang="en-US" sz="1700" dirty="0" i="1">
                <a:solidFill>
                  <a:srgbClr val="272525"/>
                </a:solidFill>
                <a:latin typeface="Cambria"/>
                <a:ea typeface="Cambria"/>
                <a:cs typeface="Cambria"/>
              </a:rPr>
              <a:t>μ</a:t>
            </a:r>
            <a:r>
              <a:rPr lang="en-US" sz="1700" dirty="0">
                <a:solidFill>
                  <a:srgbClr val="272525"/>
                </a:solidFill>
                <a:latin typeface="Cambria"/>
                <a:ea typeface="Cambria"/>
                <a:cs typeface="Cambria"/>
              </a:rPr>
              <a:t>/2) ‖</a:t>
            </a:r>
            <a:r>
              <a:rPr lang="en-US" sz="1700" dirty="0" i="1">
                <a:solidFill>
                  <a:srgbClr val="272525"/>
                </a:solidFill>
                <a:latin typeface="Cambria"/>
                <a:ea typeface="Cambria"/>
                <a:cs typeface="Cambria"/>
              </a:rPr>
              <a:t>w</a:t>
            </a:r>
            <a:r>
              <a:rPr lang="en-US" sz="1700" dirty="0">
                <a:solidFill>
                  <a:srgbClr val="272525"/>
                </a:solidFill>
                <a:latin typeface="Cambria"/>
                <a:ea typeface="Cambria"/>
                <a:cs typeface="Cambria"/>
              </a:rPr>
              <a:t> − </a:t>
            </a:r>
            <a:r>
              <a:rPr lang="en-US" sz="1700" dirty="0" i="1">
                <a:solidFill>
                  <a:srgbClr val="272525"/>
                </a:solidFill>
                <a:latin typeface="Cambria"/>
                <a:ea typeface="Cambria"/>
                <a:cs typeface="Cambria"/>
              </a:rPr>
              <a:t>w</a:t>
            </a:r>
            <a:r>
              <a:rPr lang="en-US" sz="1700" dirty="0" baseline="-25000">
                <a:solidFill>
                  <a:srgbClr val="272525"/>
                </a:solidFill>
                <a:latin typeface="Cambria"/>
                <a:ea typeface="Cambria"/>
                <a:cs typeface="Cambria"/>
              </a:rPr>
              <a:t>global</a:t>
            </a:r>
            <a:r>
              <a:rPr lang="en-US" sz="1700" dirty="0">
                <a:solidFill>
                  <a:srgbClr val="272525"/>
                </a:solidFill>
                <a:latin typeface="Cambria"/>
                <a:ea typeface="Cambria"/>
                <a:cs typeface="Cambria"/>
              </a:rPr>
              <a:t>‖</a:t>
            </a:r>
            <a:r>
              <a:rPr lang="en-US" sz="1700" dirty="0" baseline="30000">
                <a:solidFill>
                  <a:srgbClr val="272525"/>
                </a:solidFill>
                <a:latin typeface="Cambria"/>
                <a:ea typeface="Cambria"/>
                <a:cs typeface="Cambria"/>
              </a:rPr>
              <a:t>2</a:t>
            </a:r>
            <a:r>
              <a:rPr lang="en-US" sz="1700" dirty="0">
                <a:solidFill>
                  <a:srgbClr val="272525"/>
                </a:solidFill>
                <a:latin typeface="Cambria"/>
                <a:ea typeface="Cambria"/>
                <a:cs typeface="Cambria"/>
              </a:rPr>
              <a:t> + </a:t>
            </a:r>
            <a:r>
              <a:rPr lang="en-US" sz="1700" dirty="0" i="1">
                <a:solidFill>
                  <a:srgbClr val="272525"/>
                </a:solidFill>
                <a:latin typeface="Cambria"/>
                <a:ea typeface="Cambria"/>
                <a:cs typeface="Cambria"/>
              </a:rPr>
              <a:t>λ</a:t>
            </a:r>
            <a:r>
              <a:rPr lang="en-US" sz="1700" dirty="0">
                <a:solidFill>
                  <a:srgbClr val="272525"/>
                </a:solidFill>
                <a:latin typeface="Cambria"/>
                <a:ea typeface="Cambria"/>
                <a:cs typeface="Cambria"/>
              </a:rPr>
              <a:t>‖</a:t>
            </a:r>
            <a:r>
              <a:rPr lang="en-US" sz="1700" dirty="0" i="1">
                <a:solidFill>
                  <a:srgbClr val="272525"/>
                </a:solidFill>
                <a:latin typeface="Cambria"/>
                <a:ea typeface="Cambria"/>
                <a:cs typeface="Cambria"/>
              </a:rPr>
              <a:t>w</a:t>
            </a:r>
            <a:r>
              <a:rPr lang="en-US" sz="1700" dirty="0">
                <a:solidFill>
                  <a:srgbClr val="272525"/>
                </a:solidFill>
                <a:latin typeface="Cambria"/>
                <a:ea typeface="Cambria"/>
                <a:cs typeface="Cambria"/>
              </a:rPr>
              <a:t> − </a:t>
            </a:r>
            <a:r>
              <a:rPr lang="en-US" sz="1700" dirty="0" i="1">
                <a:solidFill>
                  <a:srgbClr val="272525"/>
                </a:solidFill>
                <a:latin typeface="Cambria"/>
                <a:ea typeface="Cambria"/>
                <a:cs typeface="Cambria"/>
              </a:rPr>
              <a:t>Q</a:t>
            </a:r>
            <a:r>
              <a:rPr lang="en-US" sz="1700" dirty="0">
                <a:solidFill>
                  <a:srgbClr val="272525"/>
                </a:solidFill>
                <a:latin typeface="Cambria"/>
                <a:ea typeface="Cambria"/>
                <a:cs typeface="Cambria"/>
              </a:rPr>
              <a:t>(</a:t>
            </a:r>
            <a:r>
              <a:rPr lang="en-US" sz="1700" dirty="0" i="1">
                <a:solidFill>
                  <a:srgbClr val="272525"/>
                </a:solidFill>
                <a:latin typeface="Cambria"/>
                <a:ea typeface="Cambria"/>
                <a:cs typeface="Cambria"/>
              </a:rPr>
              <a:t>w</a:t>
            </a:r>
            <a:r>
              <a:rPr lang="en-US" sz="1700" dirty="0">
                <a:solidFill>
                  <a:srgbClr val="272525"/>
                </a:solidFill>
                <a:latin typeface="Cambria"/>
                <a:ea typeface="Cambria"/>
                <a:cs typeface="Cambria"/>
              </a:rPr>
              <a:t>)‖</a:t>
            </a:r>
            <a:r>
              <a:rPr lang="en-US" sz="1700" dirty="0" baseline="30000">
                <a:solidFill>
                  <a:srgbClr val="272525"/>
                </a:solidFill>
                <a:latin typeface="Cambria"/>
                <a:ea typeface="Cambria"/>
                <a:cs typeface="Cambria"/>
              </a:rPr>
              <a:t>2</a:t>
            </a:r>
          </a:p>
          <a:p>
            <a:pPr algn="l" marL="0" indent="0">
              <a:lnSpc>
                <a:spcPct val="100000"/>
              </a:lnSpc>
              <a:spcAft>
                <a:spcPts val="0"/>
              </a:spcAft>
              <a:buNone/>
            </a:pPr>
            <a:r>
              <a:rPr lang="en-US" sz="1500" dirty="0" i="1">
                <a:solidFill>
                  <a:srgbClr val="272525"/>
                </a:solidFill>
                <a:latin typeface="Cambria"/>
                <a:ea typeface="Cambria"/>
                <a:cs typeface="Cambria"/>
              </a:rPr>
              <a:t>μ</a:t>
            </a:r>
            <a:r>
              <a:rPr lang="en-US" sz="1500" dirty="0">
                <a:solidFill>
                  <a:srgbClr val="272525"/>
                </a:solidFill>
                <a:latin typeface="Cambria"/>
                <a:ea typeface="Cambria"/>
                <a:cs typeface="Cambria"/>
              </a:rPr>
              <a:t> = </a:t>
            </a:r>
            <a:r>
              <a:rPr lang="en-US" sz="1500" dirty="0" i="1">
                <a:solidFill>
                  <a:srgbClr val="272525"/>
                </a:solidFill>
                <a:latin typeface="Cambria"/>
                <a:ea typeface="Cambria"/>
                <a:cs typeface="Cambria"/>
              </a:rPr>
              <a:t>λ</a:t>
            </a:r>
            <a:r>
              <a:rPr lang="en-US" sz="1500" dirty="0">
                <a:solidFill>
                  <a:srgbClr val="272525"/>
                </a:solidFill>
                <a:latin typeface="Cambria"/>
                <a:ea typeface="Cambria"/>
                <a:cs typeface="Cambria"/>
              </a:rPr>
              <a:t> = 0.01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82880"/>
            <a:ext cx="10868745" cy="1051560"/>
          </a:xfrm>
          <a:prstGeom prst="rect">
            <a:avLst/>
          </a:prstGeom>
          <a:noFill/>
          <a:ln/>
        </p:spPr>
        <p:txBody>
          <a:bodyPr wrap="square" lIns="0" tIns="0" rIns="0" bIns="0" rtlCol="0" anchor="b"/>
          <a:lstStyle/>
          <a:p>
            <a:pPr algn="l" indent="0" marL="0">
              <a:lnSpc>
                <a:spcPct val="104000"/>
              </a:lnSpc>
              <a:buNone/>
            </a:pPr>
            <a:r>
              <a:rPr lang="en-US" sz="3900" b="1" dirty="0">
                <a:solidFill>
                  <a:srgbClr val="000000"/>
                </a:solidFill>
                <a:latin typeface="Petrona Bold" pitchFamily="34" charset="0"/>
                <a:ea typeface="Petrona Bold" pitchFamily="34" charset="-122"/>
                <a:cs typeface="Petrona Bold" pitchFamily="34" charset="-120"/>
              </a:rPr>
              <a:t>Data: Four Cohorts, and a Duplicate Audit</a:t>
            </a:r>
            <a:endParaRPr lang="en-US" sz="3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61475" y="1616273"/>
          <a:ext cx="9143771" cy="914400"/>
        </p:xfrm>
        <a:graphic>
          <a:graphicData uri="http://schemas.openxmlformats.org/drawingml/2006/table">
            <a:tbl>
              <a:tblPr/>
              <a:tblGrid>
                <a:gridCol w="2717186"/>
                <a:gridCol w="2717186"/>
                <a:gridCol w="2717186"/>
                <a:gridCol w="2717186"/>
              </a:tblGrid>
              <a:tr h="545094">
                <a:tc>
                  <a:txBody>
                    <a:bodyPr/>
                    <a:lstStyle/>
                    <a:p>
                      <a:pPr algn="l" indent="0" marL="0">
                        <a:buNone/>
                      </a:pPr>
                      <a:r>
                        <a:rPr lang="en-US" sz="1450" b="1" dirty="0">
                          <a:solidFill>
                            <a:srgbClr val="272525"/>
                          </a:solidFill>
                          <a:latin typeface="Inter" pitchFamily="34" charset="0"/>
                          <a:ea typeface="Inter" pitchFamily="34" charset="-122"/>
                          <a:cs typeface="Inter" pitchFamily="34" charset="-120"/>
                        </a:rPr>
                        <a:t>Cohort</a:t>
                      </a:r>
                      <a:endParaRPr lang="en-US" sz="1450" dirty="0">
                        <a:latin typeface="Inter" charset="0"/>
                        <a:ea typeface="Inter" charset="0"/>
                        <a:cs typeface="Inter" charset="0"/>
                      </a:endParaRPr>
                    </a:p>
                  </a:txBody>
                  <a:tcPr marL="189018" marR="189018"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450" b="1" dirty="0">
                          <a:solidFill>
                            <a:srgbClr val="272525"/>
                          </a:solidFill>
                          <a:latin typeface="Inter" pitchFamily="34" charset="0"/>
                          <a:ea typeface="Inter" pitchFamily="34" charset="-122"/>
                          <a:cs typeface="Inter" pitchFamily="34" charset="-120"/>
                        </a:rPr>
                        <a:t>Origin</a:t>
                      </a:r>
                      <a:endParaRPr lang="en-US" sz="1450" dirty="0">
                        <a:latin typeface="Inter" charset="0"/>
                        <a:ea typeface="Inter" charset="0"/>
                        <a:cs typeface="Inter" charset="0"/>
                      </a:endParaRPr>
                    </a:p>
                  </a:txBody>
                  <a:tcPr marL="189018" marR="189018"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450" b="1" dirty="0">
                          <a:solidFill>
                            <a:srgbClr val="272525"/>
                          </a:solidFill>
                          <a:latin typeface="Inter" pitchFamily="34" charset="0"/>
                          <a:ea typeface="Inter" pitchFamily="34" charset="-122"/>
                          <a:cs typeface="Inter" pitchFamily="34" charset="-120"/>
                        </a:rPr>
                        <a:t>Images</a:t>
                      </a:r>
                      <a:endParaRPr lang="en-US" sz="1450" dirty="0">
                        <a:latin typeface="Inter" charset="0"/>
                        <a:ea typeface="Inter" charset="0"/>
                        <a:cs typeface="Inter" charset="0"/>
                      </a:endParaRPr>
                    </a:p>
                  </a:txBody>
                  <a:tcPr marL="189018" marR="189018"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450" b="1" dirty="0">
                          <a:solidFill>
                            <a:srgbClr val="272525"/>
                          </a:solidFill>
                          <a:latin typeface="Inter" pitchFamily="34" charset="0"/>
                          <a:ea typeface="Inter" pitchFamily="34" charset="-122"/>
                          <a:cs typeface="Inter" pitchFamily="34" charset="-120"/>
                        </a:rPr>
                        <a:t>Type</a:t>
                      </a:r>
                      <a:endParaRPr lang="en-US" sz="1450" dirty="0">
                        <a:latin typeface="Inter" charset="0"/>
                        <a:ea typeface="Inter" charset="0"/>
                        <a:cs typeface="Inter" charset="0"/>
                      </a:endParaRPr>
                    </a:p>
                  </a:txBody>
                  <a:tcPr marL="189018" marR="189018" marT="6350" marB="6350" anchor="ctr">
                    <a:lnL w="0" cap="flat" cmpd="sng" algn="ctr">
                      <a:noFill/>
                    </a:lnL>
                    <a:lnR w="0" cap="flat" cmpd="sng" algn="ctr">
                      <a:noFill/>
                    </a:lnR>
                    <a:lnT w="0" cap="flat" cmpd="sng" algn="ctr">
                      <a:noFill/>
                    </a:lnT>
                    <a:lnB w="0" cap="flat" cmpd="sng" algn="ctr">
                      <a:noFill/>
                    </a:lnB>
                  </a:tcPr>
                </a:tc>
              </a:tr>
              <a:tr h="548269">
                <a:tc>
                  <a:txBody>
                    <a:bodyPr/>
                    <a:lstStyle/>
                    <a:p>
                      <a:pPr algn="l" indent="0" marL="0">
                        <a:buNone/>
                      </a:pPr>
                      <a:r>
                        <a:rPr lang="en-US" sz="1450" dirty="0">
                          <a:solidFill>
                            <a:srgbClr val="272525"/>
                          </a:solidFill>
                          <a:latin typeface="Inter" pitchFamily="34" charset="0"/>
                          <a:ea typeface="Inter" pitchFamily="34" charset="-122"/>
                          <a:cs typeface="Inter" pitchFamily="34" charset="-120"/>
                        </a:rPr>
                        <a:t>Cheng</a:t>
                      </a:r>
                      <a:endParaRPr lang="en-US" sz="1450" dirty="0">
                        <a:latin typeface="Inter" charset="0"/>
                        <a:ea typeface="Inter" charset="0"/>
                        <a:cs typeface="Inter" charset="0"/>
                      </a:endParaRPr>
                    </a:p>
                  </a:txBody>
                  <a:tcPr marL="189018" marR="189018"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450" dirty="0">
                          <a:solidFill>
                            <a:srgbClr val="272525"/>
                          </a:solidFill>
                          <a:latin typeface="Inter" pitchFamily="34" charset="0"/>
                          <a:ea typeface="Inter" pitchFamily="34" charset="-122"/>
                          <a:cs typeface="Inter" pitchFamily="34" charset="-120"/>
                        </a:rPr>
                        <a:t>China</a:t>
                      </a:r>
                      <a:endParaRPr lang="en-US" sz="1450" dirty="0">
                        <a:latin typeface="Inter" charset="0"/>
                        <a:ea typeface="Inter" charset="0"/>
                        <a:cs typeface="Inter" charset="0"/>
                      </a:endParaRPr>
                    </a:p>
                  </a:txBody>
                  <a:tcPr marL="189018" marR="189018"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450" dirty="0">
                          <a:solidFill>
                            <a:srgbClr val="272525"/>
                          </a:solidFill>
                          <a:latin typeface="Inter" pitchFamily="34" charset="0"/>
                          <a:ea typeface="Inter" pitchFamily="34" charset="-122"/>
                          <a:cs typeface="Inter" pitchFamily="34" charset="-120"/>
                        </a:rPr>
                        <a:t>3,064</a:t>
                      </a:r>
                      <a:endParaRPr lang="en-US" sz="1450" dirty="0">
                        <a:latin typeface="Inter" charset="0"/>
                        <a:ea typeface="Inter" charset="0"/>
                        <a:cs typeface="Inter" charset="0"/>
                      </a:endParaRPr>
                    </a:p>
                  </a:txBody>
                  <a:tcPr marL="189018" marR="189018"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450" dirty="0">
                          <a:solidFill>
                            <a:srgbClr val="272525"/>
                          </a:solidFill>
                          <a:latin typeface="Inter" pitchFamily="34" charset="0"/>
                          <a:ea typeface="Inter" pitchFamily="34" charset="-122"/>
                          <a:cs typeface="Inter" pitchFamily="34" charset="-120"/>
                        </a:rPr>
                        <a:t>Multi-class</a:t>
                      </a:r>
                      <a:endParaRPr lang="en-US" sz="1450" dirty="0">
                        <a:latin typeface="Inter" charset="0"/>
                        <a:ea typeface="Inter" charset="0"/>
                        <a:cs typeface="Inter" charset="0"/>
                      </a:endParaRPr>
                    </a:p>
                  </a:txBody>
                  <a:tcPr marL="189018" marR="189018" marT="6350" marB="6350" anchor="ctr">
                    <a:lnL w="0" cap="flat" cmpd="sng" algn="ctr">
                      <a:noFill/>
                    </a:lnL>
                    <a:lnR w="0" cap="flat" cmpd="sng" algn="ctr">
                      <a:noFill/>
                    </a:lnR>
                    <a:lnT w="0" cap="flat" cmpd="sng" algn="ctr">
                      <a:noFill/>
                    </a:lnT>
                    <a:lnB w="0" cap="flat" cmpd="sng" algn="ctr">
                      <a:noFill/>
                    </a:lnB>
                  </a:tcPr>
                </a:tc>
              </a:tr>
              <a:tr h="548269">
                <a:tc>
                  <a:txBody>
                    <a:bodyPr/>
                    <a:lstStyle/>
                    <a:p>
                      <a:pPr algn="l" indent="0" marL="0">
                        <a:buNone/>
                      </a:pPr>
                      <a:r>
                        <a:rPr lang="en-US" sz="1450" dirty="0">
                          <a:solidFill>
                            <a:srgbClr val="272525"/>
                          </a:solidFill>
                          <a:latin typeface="Inter" pitchFamily="34" charset="0"/>
                          <a:ea typeface="Inter" pitchFamily="34" charset="-122"/>
                          <a:cs typeface="Inter" pitchFamily="34" charset="-120"/>
                        </a:rPr>
                        <a:t>PMRAM</a:t>
                      </a:r>
                      <a:endParaRPr lang="en-US" sz="1450" dirty="0">
                        <a:latin typeface="Inter" charset="0"/>
                        <a:ea typeface="Inter" charset="0"/>
                        <a:cs typeface="Inter" charset="0"/>
                      </a:endParaRPr>
                    </a:p>
                  </a:txBody>
                  <a:tcPr marL="189018" marR="189018"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450" dirty="0">
                          <a:solidFill>
                            <a:srgbClr val="272525"/>
                          </a:solidFill>
                          <a:latin typeface="Inter" pitchFamily="34" charset="0"/>
                          <a:ea typeface="Inter" pitchFamily="34" charset="-122"/>
                          <a:cs typeface="Inter" pitchFamily="34" charset="-120"/>
                        </a:rPr>
                        <a:t>Bangladesh</a:t>
                      </a:r>
                      <a:endParaRPr lang="en-US" sz="1450" dirty="0">
                        <a:latin typeface="Inter" charset="0"/>
                        <a:ea typeface="Inter" charset="0"/>
                        <a:cs typeface="Inter" charset="0"/>
                      </a:endParaRPr>
                    </a:p>
                  </a:txBody>
                  <a:tcPr marL="189018" marR="189018"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450" dirty="0">
                          <a:solidFill>
                            <a:srgbClr val="272525"/>
                          </a:solidFill>
                          <a:latin typeface="Inter" pitchFamily="34" charset="0"/>
                          <a:ea typeface="Inter" pitchFamily="34" charset="-122"/>
                          <a:cs typeface="Inter" pitchFamily="34" charset="-120"/>
                        </a:rPr>
                        <a:t>6,012</a:t>
                      </a:r>
                      <a:endParaRPr lang="en-US" sz="1450" dirty="0">
                        <a:latin typeface="Inter" charset="0"/>
                        <a:ea typeface="Inter" charset="0"/>
                        <a:cs typeface="Inter" charset="0"/>
                      </a:endParaRPr>
                    </a:p>
                  </a:txBody>
                  <a:tcPr marL="189018" marR="189018"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450" dirty="0">
                          <a:solidFill>
                            <a:srgbClr val="272525"/>
                          </a:solidFill>
                          <a:latin typeface="Inter" pitchFamily="34" charset="0"/>
                          <a:ea typeface="Inter" pitchFamily="34" charset="-122"/>
                          <a:cs typeface="Inter" pitchFamily="34" charset="-120"/>
                        </a:rPr>
                        <a:t>Multi-class</a:t>
                      </a:r>
                      <a:endParaRPr lang="en-US" sz="1450" dirty="0">
                        <a:latin typeface="Inter" charset="0"/>
                        <a:ea typeface="Inter" charset="0"/>
                        <a:cs typeface="Inter" charset="0"/>
                      </a:endParaRPr>
                    </a:p>
                  </a:txBody>
                  <a:tcPr marL="189018" marR="189018" marT="6350" marB="6350" anchor="ctr">
                    <a:lnL w="0" cap="flat" cmpd="sng" algn="ctr">
                      <a:noFill/>
                    </a:lnL>
                    <a:lnR w="0" cap="flat" cmpd="sng" algn="ctr">
                      <a:noFill/>
                    </a:lnR>
                    <a:lnT w="0" cap="flat" cmpd="sng" algn="ctr">
                      <a:noFill/>
                    </a:lnT>
                    <a:lnB w="0" cap="flat" cmpd="sng" algn="ctr">
                      <a:noFill/>
                    </a:lnB>
                  </a:tcPr>
                </a:tc>
              </a:tr>
              <a:tr h="548269">
                <a:tc>
                  <a:txBody>
                    <a:bodyPr/>
                    <a:lstStyle/>
                    <a:p>
                      <a:pPr algn="l" indent="0" marL="0">
                        <a:buNone/>
                      </a:pPr>
                      <a:r>
                        <a:rPr lang="en-US" sz="1450" dirty="0">
                          <a:solidFill>
                            <a:srgbClr val="272525"/>
                          </a:solidFill>
                          <a:latin typeface="Inter" pitchFamily="34" charset="0"/>
                          <a:ea typeface="Inter" pitchFamily="34" charset="-122"/>
                          <a:cs typeface="Inter" pitchFamily="34" charset="-120"/>
                        </a:rPr>
                        <a:t>Sartaj</a:t>
                      </a:r>
                      <a:endParaRPr lang="en-US" sz="1450" dirty="0">
                        <a:latin typeface="Inter" charset="0"/>
                        <a:ea typeface="Inter" charset="0"/>
                        <a:cs typeface="Inter" charset="0"/>
                      </a:endParaRPr>
                    </a:p>
                  </a:txBody>
                  <a:tcPr marL="189018" marR="189018"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450" dirty="0">
                          <a:solidFill>
                            <a:srgbClr val="272525"/>
                          </a:solidFill>
                          <a:latin typeface="Inter" pitchFamily="34" charset="0"/>
                          <a:ea typeface="Inter" pitchFamily="34" charset="-122"/>
                          <a:cs typeface="Inter" pitchFamily="34" charset="-120"/>
                        </a:rPr>
                        <a:t>Mixed public</a:t>
                      </a:r>
                      <a:endParaRPr lang="en-US" sz="1450" dirty="0">
                        <a:latin typeface="Inter" charset="0"/>
                        <a:ea typeface="Inter" charset="0"/>
                        <a:cs typeface="Inter" charset="0"/>
                      </a:endParaRPr>
                    </a:p>
                  </a:txBody>
                  <a:tcPr marL="189018" marR="189018"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450" dirty="0">
                          <a:solidFill>
                            <a:srgbClr val="272525"/>
                          </a:solidFill>
                          <a:latin typeface="Inter" pitchFamily="34" charset="0"/>
                          <a:ea typeface="Inter" pitchFamily="34" charset="-122"/>
                          <a:cs typeface="Inter" pitchFamily="34" charset="-120"/>
                        </a:rPr>
                        <a:t>3,264</a:t>
                      </a:r>
                      <a:endParaRPr lang="en-US" sz="1450" dirty="0">
                        <a:latin typeface="Inter" charset="0"/>
                        <a:ea typeface="Inter" charset="0"/>
                        <a:cs typeface="Inter" charset="0"/>
                      </a:endParaRPr>
                    </a:p>
                  </a:txBody>
                  <a:tcPr marL="189018" marR="189018"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450" dirty="0">
                          <a:solidFill>
                            <a:srgbClr val="272525"/>
                          </a:solidFill>
                          <a:latin typeface="Inter" pitchFamily="34" charset="0"/>
                          <a:ea typeface="Inter" pitchFamily="34" charset="-122"/>
                          <a:cs typeface="Inter" pitchFamily="34" charset="-120"/>
                        </a:rPr>
                        <a:t>Multi-class</a:t>
                      </a:r>
                      <a:endParaRPr lang="en-US" sz="1450" dirty="0">
                        <a:latin typeface="Inter" charset="0"/>
                        <a:ea typeface="Inter" charset="0"/>
                        <a:cs typeface="Inter" charset="0"/>
                      </a:endParaRPr>
                    </a:p>
                  </a:txBody>
                  <a:tcPr marL="189018" marR="189018" marT="6350" marB="6350" anchor="ctr">
                    <a:lnL w="0" cap="flat" cmpd="sng" algn="ctr">
                      <a:noFill/>
                    </a:lnL>
                    <a:lnR w="0" cap="flat" cmpd="sng" algn="ctr">
                      <a:noFill/>
                    </a:lnR>
                    <a:lnT w="0" cap="flat" cmpd="sng" algn="ctr">
                      <a:noFill/>
                    </a:lnT>
                    <a:lnB w="0" cap="flat" cmpd="sng" algn="ctr">
                      <a:noFill/>
                    </a:lnB>
                  </a:tcPr>
                </a:tc>
              </a:tr>
              <a:tr h="545094">
                <a:tc>
                  <a:txBody>
                    <a:bodyPr/>
                    <a:lstStyle/>
                    <a:p>
                      <a:pPr algn="l" indent="0" marL="0">
                        <a:buNone/>
                      </a:pPr>
                      <a:r>
                        <a:rPr lang="en-US" sz="1450" dirty="0">
                          <a:solidFill>
                            <a:srgbClr val="272525"/>
                          </a:solidFill>
                          <a:latin typeface="Inter" pitchFamily="34" charset="0"/>
                          <a:ea typeface="Inter" pitchFamily="34" charset="-122"/>
                          <a:cs typeface="Inter" pitchFamily="34" charset="-120"/>
                        </a:rPr>
                        <a:t>Br35h</a:t>
                      </a:r>
                      <a:endParaRPr lang="en-US" sz="1450" dirty="0">
                        <a:latin typeface="Inter" charset="0"/>
                        <a:ea typeface="Inter" charset="0"/>
                        <a:cs typeface="Inter" charset="0"/>
                      </a:endParaRPr>
                    </a:p>
                  </a:txBody>
                  <a:tcPr marL="189018" marR="189018"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450" dirty="0">
                          <a:solidFill>
                            <a:srgbClr val="272525"/>
                          </a:solidFill>
                          <a:latin typeface="Inter" pitchFamily="34" charset="0"/>
                          <a:ea typeface="Inter" pitchFamily="34" charset="-122"/>
                          <a:cs typeface="Inter" pitchFamily="34" charset="-120"/>
                        </a:rPr>
                        <a:t>Public</a:t>
                      </a:r>
                      <a:endParaRPr lang="en-US" sz="1450" dirty="0">
                        <a:latin typeface="Inter" charset="0"/>
                        <a:ea typeface="Inter" charset="0"/>
                        <a:cs typeface="Inter" charset="0"/>
                      </a:endParaRPr>
                    </a:p>
                  </a:txBody>
                  <a:tcPr marL="189018" marR="189018"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450" dirty="0">
                          <a:solidFill>
                            <a:srgbClr val="272525"/>
                          </a:solidFill>
                          <a:latin typeface="Inter" pitchFamily="34" charset="0"/>
                          <a:ea typeface="Inter" pitchFamily="34" charset="-122"/>
                          <a:cs typeface="Inter" pitchFamily="34" charset="-120"/>
                        </a:rPr>
                        <a:t>—</a:t>
                      </a:r>
                      <a:endParaRPr lang="en-US" sz="1450" dirty="0">
                        <a:latin typeface="Inter" charset="0"/>
                        <a:ea typeface="Inter" charset="0"/>
                        <a:cs typeface="Inter" charset="0"/>
                      </a:endParaRPr>
                    </a:p>
                  </a:txBody>
                  <a:tcPr marL="189018" marR="189018" marT="6350" marB="635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450" dirty="0">
                          <a:solidFill>
                            <a:srgbClr val="272525"/>
                          </a:solidFill>
                          <a:latin typeface="Inter" pitchFamily="34" charset="0"/>
                          <a:ea typeface="Inter" pitchFamily="34" charset="-122"/>
                          <a:cs typeface="Inter" pitchFamily="34" charset="-120"/>
                        </a:rPr>
                        <a:t>Binary</a:t>
                      </a:r>
                      <a:endParaRPr lang="en-US" sz="1450" dirty="0">
                        <a:latin typeface="Inter" charset="0"/>
                        <a:ea typeface="Inter" charset="0"/>
                        <a:cs typeface="Inter" charset="0"/>
                      </a:endParaRPr>
                    </a:p>
                  </a:txBody>
                  <a:tcPr marL="189018" marR="189018" marT="6350" marB="6350" anchor="ctr">
                    <a:lnL w="0" cap="flat" cmpd="sng" algn="ctr">
                      <a:noFill/>
                    </a:lnL>
                    <a:lnR w="0" cap="flat" cmpd="sng" algn="ctr">
                      <a:noFill/>
                    </a:lnR>
                    <a:lnT w="0" cap="flat" cmpd="sng" algn="ctr">
                      <a:noFill/>
                    </a:lnT>
                    <a:lnB w="0" cap="flat" cmpd="sng" algn="ctr">
                      <a:noFill/>
                    </a:lnB>
                  </a:tcPr>
                </a:tc>
              </a:tr>
            </a:tbl>
          </a:graphicData>
        </a:graphic>
      </p:graphicFrame>
      <p:sp>
        <p:nvSpPr>
          <p:cNvPr id="4" name="Shape 1"/>
          <p:cNvSpPr/>
          <p:nvPr/>
        </p:nvSpPr>
        <p:spPr>
          <a:xfrm>
            <a:off x="661475" y="2149554"/>
            <a:ext cx="10868745" cy="11814"/>
          </a:xfrm>
          <a:prstGeom prst="rect">
            <a:avLst/>
          </a:prstGeom>
          <a:solidFill>
            <a:srgbClr val="000000">
              <a:alpha val="8000"/>
            </a:srgbClr>
          </a:solidFill>
          <a:ln/>
        </p:spPr>
      </p:sp>
      <p:sp>
        <p:nvSpPr>
          <p:cNvPr id="5" name="Shape 2"/>
          <p:cNvSpPr/>
          <p:nvPr/>
        </p:nvSpPr>
        <p:spPr>
          <a:xfrm>
            <a:off x="661475" y="2697823"/>
            <a:ext cx="10868745" cy="11814"/>
          </a:xfrm>
          <a:prstGeom prst="rect">
            <a:avLst/>
          </a:prstGeom>
          <a:solidFill>
            <a:srgbClr val="000000">
              <a:alpha val="8000"/>
            </a:srgbClr>
          </a:solidFill>
          <a:ln/>
        </p:spPr>
      </p:sp>
      <p:sp>
        <p:nvSpPr>
          <p:cNvPr id="6" name="Shape 3"/>
          <p:cNvSpPr/>
          <p:nvPr/>
        </p:nvSpPr>
        <p:spPr>
          <a:xfrm>
            <a:off x="661475" y="3246092"/>
            <a:ext cx="10868745" cy="11814"/>
          </a:xfrm>
          <a:prstGeom prst="rect">
            <a:avLst/>
          </a:prstGeom>
          <a:solidFill>
            <a:srgbClr val="000000">
              <a:alpha val="8000"/>
            </a:srgbClr>
          </a:solidFill>
          <a:ln/>
        </p:spPr>
      </p:sp>
      <p:sp>
        <p:nvSpPr>
          <p:cNvPr id="7" name="Shape 4"/>
          <p:cNvSpPr/>
          <p:nvPr/>
        </p:nvSpPr>
        <p:spPr>
          <a:xfrm>
            <a:off x="661475" y="3794361"/>
            <a:ext cx="10868745" cy="11814"/>
          </a:xfrm>
          <a:prstGeom prst="rect">
            <a:avLst/>
          </a:prstGeom>
          <a:solidFill>
            <a:srgbClr val="000000">
              <a:alpha val="8000"/>
            </a:srgbClr>
          </a:solidFill>
          <a:ln/>
        </p:spPr>
      </p:sp>
      <p:sp>
        <p:nvSpPr>
          <p:cNvPr id="8" name="Shape 5"/>
          <p:cNvSpPr/>
          <p:nvPr/>
        </p:nvSpPr>
        <p:spPr>
          <a:xfrm>
            <a:off x="661475" y="4576663"/>
            <a:ext cx="10868745" cy="1663204"/>
          </a:xfrm>
          <a:prstGeom prst="roundRect">
            <a:avLst>
              <a:gd name="adj" fmla="val 4773"/>
            </a:avLst>
          </a:prstGeom>
          <a:solidFill>
            <a:srgbClr val="CCEEFF"/>
          </a:solidFill>
          <a:ln/>
        </p:spPr>
      </p:sp>
      <p:pic>
        <p:nvPicPr>
          <p:cNvPr id="9" name="Image 0" descr="preencoded.png">    </p:cNvPr>
          <p:cNvPicPr>
            <a:picLocks noChangeAspect="1"/>
          </p:cNvPicPr>
          <p:nvPr/>
        </p:nvPicPr>
        <p:blipFill>
          <a:blip r:embed="rId1"/>
          <a:stretch>
            <a:fillRect/>
          </a:stretch>
        </p:blipFill>
        <p:spPr>
          <a:xfrm>
            <a:off x="850482" y="4844355"/>
            <a:ext cx="236234" cy="189012"/>
          </a:xfrm>
          <a:prstGeom prst="rect">
            <a:avLst/>
          </a:prstGeom>
        </p:spPr>
      </p:pic>
      <p:sp>
        <p:nvSpPr>
          <p:cNvPr id="10" name="Text 6"/>
          <p:cNvSpPr/>
          <p:nvPr/>
        </p:nvSpPr>
        <p:spPr>
          <a:xfrm>
            <a:off x="1275723" y="4812903"/>
            <a:ext cx="10065490" cy="1209675"/>
          </a:xfrm>
          <a:prstGeom prst="rect">
            <a:avLst/>
          </a:prstGeom>
          <a:noFill/>
          <a:ln/>
        </p:spPr>
        <p:txBody>
          <a:bodyPr wrap="square" lIns="0" tIns="0" rIns="0" bIns="0" rtlCol="0" anchor="t"/>
          <a:lstStyle/>
          <a:p>
            <a:pPr algn="l" indent="0" marL="0">
              <a:lnSpc>
                <a:spcPct val="133000"/>
              </a:lnSpc>
              <a:buNone/>
            </a:pPr>
            <a:r>
              <a:rPr lang="en-US" sz="1450" dirty="0">
                <a:solidFill>
                  <a:srgbClr val="000000"/>
                </a:solidFill>
                <a:latin typeface="Inter" pitchFamily="34" charset="0"/>
                <a:ea typeface="Inter" pitchFamily="34" charset="-122"/>
                <a:cs typeface="Inter" pitchFamily="34" charset="-120"/>
              </a:rPr>
              <a:t>Perceptual hashing fails on brain MRI: every slice is a bright ovoid on black, so it flagged about 78% of independent images as duplicates. Normalized cross-correlation (tau = 0.999) revealed: 71.8% of Sartaj is copied from Cheng; 45.5% of Br35h repeats inside itself; 55.2% of the popular merged benchmark duplicates its own sources. Sartaj drops from 3,264 usable images to 544.</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457200"/>
            <a:ext cx="10868745" cy="566928"/>
          </a:xfrm>
          <a:prstGeom prst="rect">
            <a:avLst/>
          </a:prstGeom>
          <a:noFill/>
          <a:ln/>
        </p:spPr>
        <p:txBody>
          <a:bodyPr wrap="square" lIns="0" tIns="0" rIns="0" bIns="0" rtlCol="0" anchor="t"/>
          <a:lstStyle/>
          <a:p>
            <a:pPr algn="l" indent="0" marL="0">
              <a:lnSpc>
                <a:spcPct val="104000"/>
              </a:lnSpc>
              <a:buNone/>
            </a:pPr>
            <a:r>
              <a:rPr lang="en-US" sz="3400" b="1" dirty="0">
                <a:solidFill>
                  <a:srgbClr val="000000"/>
                </a:solidFill>
                <a:latin typeface="Petrona Bold" pitchFamily="34" charset="0"/>
                <a:ea typeface="Petrona Bold" pitchFamily="34" charset="-122"/>
                <a:cs typeface="Petrona Bold" pitchFamily="34" charset="-120"/>
              </a:rPr>
              <a:t>How We Ran It</a:t>
            </a:r>
            <a:endParaRPr lang="en-US" sz="3400" dirty="0"/>
          </a:p>
        </p:txBody>
      </p:sp>
      <p:sp>
        <p:nvSpPr>
          <p:cNvPr id="3" name="Text 1"/>
          <p:cNvSpPr/>
          <p:nvPr/>
        </p:nvSpPr>
        <p:spPr>
          <a:xfrm>
            <a:off x="661475" y="1234440"/>
            <a:ext cx="10868745" cy="1600200"/>
          </a:xfrm>
          <a:prstGeom prst="rect">
            <a:avLst/>
          </a:prstGeom>
          <a:noFill/>
          <a:ln/>
        </p:spPr>
        <p:txBody>
          <a:bodyPr wrap="square" lIns="0" tIns="0" rIns="0" bIns="0" rtlCol="0" anchor="t"/>
          <a:lstStyle/>
          <a:p>
            <a:pPr algn="l" marL="228600" indent="-228600">
              <a:lnSpc>
                <a:spcPct val="115000"/>
              </a:lnSpc>
              <a:spcAft>
                <a:spcPts val="400"/>
              </a:spcAft>
              <a:buSzPct val="100000"/>
              <a:buChar char="•"/>
            </a:pPr>
            <a:r>
              <a:rPr lang="en-US" sz="1450" dirty="0">
                <a:solidFill>
                  <a:srgbClr val="272525"/>
                </a:solidFill>
                <a:latin typeface="Inter" pitchFamily="34" charset="0"/>
                <a:ea typeface="Inter" pitchFamily="34" charset="-122"/>
                <a:cs typeface="Inter" pitchFamily="34" charset="-120"/>
              </a:rPr>
              <a:t>Leave-one-site-out: train on three cohorts, test on a fourth that contributed nothing.</a:t>
            </a:r>
            <a:endParaRPr lang="en-US" sz="1450" dirty="0"/>
          </a:p>
          <a:p>
            <a:pPr algn="l" marL="228600" indent="-228600">
              <a:lnSpc>
                <a:spcPct val="115000"/>
              </a:lnSpc>
              <a:spcAft>
                <a:spcPts val="400"/>
              </a:spcAft>
              <a:buSzPct val="100000"/>
              <a:buChar char="•"/>
            </a:pPr>
            <a:r>
              <a:rPr lang="en-US" sz="1450" dirty="0">
                <a:solidFill>
                  <a:srgbClr val="272525"/>
                </a:solidFill>
                <a:latin typeface="Inter" pitchFamily="34" charset="0"/>
                <a:ea typeface="Inter" pitchFamily="34" charset="-122"/>
                <a:cs typeface="Inter" pitchFamily="34" charset="-120"/>
              </a:rPr>
              <a:t>Three folds: Cheng held out, PMRAM held out, Sartaj held out (secondary, small).</a:t>
            </a:r>
            <a:endParaRPr lang="en-US" sz="1450" dirty="0"/>
          </a:p>
          <a:p>
            <a:pPr algn="l" marL="228600" indent="-228600">
              <a:lnSpc>
                <a:spcPct val="115000"/>
              </a:lnSpc>
              <a:spcAft>
                <a:spcPts val="400"/>
              </a:spcAft>
              <a:buSzPct val="100000"/>
              <a:buChar char="•"/>
            </a:pPr>
            <a:r>
              <a:rPr lang="en-US" sz="1450" dirty="0">
                <a:solidFill>
                  <a:srgbClr val="272525"/>
                </a:solidFill>
                <a:latin typeface="Inter" pitchFamily="34" charset="0"/>
                <a:ea typeface="Inter" pitchFamily="34" charset="-122"/>
                <a:cs typeface="Inter" pitchFamily="34" charset="-120"/>
              </a:rPr>
              <a:t>Br35h has no subtype labels, so its tumour images enter through a superset loss over {glioma, meningioma, pituitary}.</a:t>
            </a:r>
            <a:endParaRPr lang="en-US" sz="1450" dirty="0"/>
          </a:p>
          <a:p>
            <a:pPr algn="l" marL="228600" indent="-228600">
              <a:lnSpc>
                <a:spcPct val="115000"/>
              </a:lnSpc>
              <a:spcAft>
                <a:spcPts val="400"/>
              </a:spcAft>
              <a:buSzPct val="100000"/>
              <a:buChar char="•"/>
            </a:pPr>
            <a:r>
              <a:rPr lang="en-US" sz="1450" dirty="0">
                <a:solidFill>
                  <a:srgbClr val="272525"/>
                </a:solidFill>
                <a:latin typeface="Inter" pitchFamily="34" charset="0"/>
                <a:ea typeface="Inter" pitchFamily="34" charset="-122"/>
                <a:cs typeface="Inter" pitchFamily="34" charset="-120"/>
              </a:rPr>
              <a:t>Model: MobileNetV2 width 0.35 at 128x128, 415,332 parameters, converted to full-integer INT8.</a:t>
            </a:r>
            <a:endParaRPr lang="en-US" sz="1450" dirty="0"/>
          </a:p>
          <a:p>
            <a:pPr algn="l" marL="228600" indent="-228600">
              <a:lnSpc>
                <a:spcPct val="115000"/>
              </a:lnSpc>
              <a:spcAft>
                <a:spcPts val="400"/>
              </a:spcAft>
              <a:buSzPct val="100000"/>
              <a:buChar char="•"/>
            </a:pPr>
            <a:r>
              <a:rPr lang="en-US" sz="1450" dirty="0">
                <a:solidFill>
                  <a:srgbClr val="272525"/>
                </a:solidFill>
                <a:latin typeface="Inter" pitchFamily="34" charset="0"/>
                <a:ea typeface="Inter" pitchFamily="34" charset="-122"/>
                <a:cs typeface="Inter" pitchFamily="34" charset="-120"/>
              </a:rPr>
              <a:t>4 methods x 3 folds x 3 seeds = 36 federated runs, on Kaggle T4 GPUs, in four notebooks: data preparation, baselines, federated training, TinyML export.</a:t>
            </a:r>
            <a:endParaRPr lang="en-US" sz="1450" dirty="0"/>
          </a:p>
        </p:txBody>
      </p:sp>
      <p:sp>
        <p:nvSpPr>
          <p:cNvPr id="18" name="Stage card 1"/>
          <p:cNvSpPr/>
          <p:nvPr/>
        </p:nvSpPr>
        <p:spPr>
          <a:xfrm>
            <a:off x="658368" y="3108960"/>
            <a:ext cx="1867204" cy="1828800"/>
          </a:xfrm>
          <a:prstGeom prst="roundRect">
            <a:avLst>
              <a:gd name="adj" fmla="val 10000"/>
            </a:avLst>
          </a:prstGeom>
          <a:solidFill>
            <a:srgbClr val="FFFFFF"/>
          </a:solidFill>
          <a:ln w="28575">
            <a:solidFill>
              <a:srgbClr val="007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tage arrow 1"/>
          <p:cNvSpPr/>
          <p:nvPr/>
        </p:nvSpPr>
        <p:spPr>
          <a:xfrm>
            <a:off x="2598724" y="3904488"/>
            <a:ext cx="237744" cy="237744"/>
          </a:xfrm>
          <a:prstGeom prst="rightArrow">
            <a:avLst/>
          </a:prstGeom>
          <a:solidFill>
            <a:srgbClr val="007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age card 2"/>
          <p:cNvSpPr/>
          <p:nvPr/>
        </p:nvSpPr>
        <p:spPr>
          <a:xfrm>
            <a:off x="2909620" y="3108960"/>
            <a:ext cx="1867204" cy="1828800"/>
          </a:xfrm>
          <a:prstGeom prst="roundRect">
            <a:avLst>
              <a:gd name="adj" fmla="val 10000"/>
            </a:avLst>
          </a:prstGeom>
          <a:solidFill>
            <a:srgbClr val="FFFFFF"/>
          </a:solidFill>
          <a:ln w="28575">
            <a:solidFill>
              <a:srgbClr val="007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tage arrow 2"/>
          <p:cNvSpPr/>
          <p:nvPr/>
        </p:nvSpPr>
        <p:spPr>
          <a:xfrm>
            <a:off x="4849977" y="3904488"/>
            <a:ext cx="237744" cy="237744"/>
          </a:xfrm>
          <a:prstGeom prst="rightArrow">
            <a:avLst/>
          </a:prstGeom>
          <a:solidFill>
            <a:srgbClr val="007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tage card 3"/>
          <p:cNvSpPr/>
          <p:nvPr/>
        </p:nvSpPr>
        <p:spPr>
          <a:xfrm>
            <a:off x="5160873" y="3108960"/>
            <a:ext cx="1867204" cy="1828800"/>
          </a:xfrm>
          <a:prstGeom prst="roundRect">
            <a:avLst>
              <a:gd name="adj" fmla="val 10000"/>
            </a:avLst>
          </a:prstGeom>
          <a:solidFill>
            <a:srgbClr val="FFFFFF"/>
          </a:solidFill>
          <a:ln w="28575">
            <a:solidFill>
              <a:srgbClr val="007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ge arrow 3"/>
          <p:cNvSpPr/>
          <p:nvPr/>
        </p:nvSpPr>
        <p:spPr>
          <a:xfrm>
            <a:off x="7101230" y="3904488"/>
            <a:ext cx="237744" cy="237744"/>
          </a:xfrm>
          <a:prstGeom prst="rightArrow">
            <a:avLst/>
          </a:prstGeom>
          <a:solidFill>
            <a:srgbClr val="007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tage card 4"/>
          <p:cNvSpPr/>
          <p:nvPr/>
        </p:nvSpPr>
        <p:spPr>
          <a:xfrm>
            <a:off x="7412126" y="3108960"/>
            <a:ext cx="1867204" cy="1828800"/>
          </a:xfrm>
          <a:prstGeom prst="roundRect">
            <a:avLst>
              <a:gd name="adj" fmla="val 10000"/>
            </a:avLst>
          </a:prstGeom>
          <a:solidFill>
            <a:srgbClr val="FFFFFF"/>
          </a:solidFill>
          <a:ln w="28575">
            <a:solidFill>
              <a:srgbClr val="007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tage arrow 4"/>
          <p:cNvSpPr/>
          <p:nvPr/>
        </p:nvSpPr>
        <p:spPr>
          <a:xfrm>
            <a:off x="9352483" y="3904488"/>
            <a:ext cx="237744" cy="237744"/>
          </a:xfrm>
          <a:prstGeom prst="rightArrow">
            <a:avLst/>
          </a:prstGeom>
          <a:solidFill>
            <a:srgbClr val="007E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tage card 5"/>
          <p:cNvSpPr/>
          <p:nvPr/>
        </p:nvSpPr>
        <p:spPr>
          <a:xfrm>
            <a:off x="9663379" y="3108960"/>
            <a:ext cx="1867204" cy="1828800"/>
          </a:xfrm>
          <a:prstGeom prst="roundRect">
            <a:avLst>
              <a:gd name="adj" fmla="val 10000"/>
            </a:avLst>
          </a:prstGeom>
          <a:solidFill>
            <a:srgbClr val="FFFFFF"/>
          </a:solidFill>
          <a:ln w="28575">
            <a:solidFill>
              <a:srgbClr val="007E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2"/>
          <p:cNvSpPr/>
          <p:nvPr/>
        </p:nvSpPr>
        <p:spPr>
          <a:xfrm>
            <a:off x="3019349" y="3246120"/>
            <a:ext cx="1647749" cy="603504"/>
          </a:xfrm>
          <a:prstGeom prst="rect">
            <a:avLst/>
          </a:prstGeom>
          <a:noFill/>
          <a:ln/>
        </p:spPr>
        <p:txBody>
          <a:bodyPr wrap="square" lIns="0" tIns="0" rIns="0" bIns="0" rtlCol="0" anchor="b"/>
          <a:lstStyle/>
          <a:p>
            <a:pPr algn="ctr" indent="0" marL="0">
              <a:lnSpc>
                <a:spcPct val="104000"/>
              </a:lnSpc>
              <a:buNone/>
            </a:pPr>
            <a:r>
              <a:rPr lang="en-US" sz="1800" b="1" dirty="0">
                <a:solidFill>
                  <a:srgbClr val="272525"/>
                </a:solidFill>
                <a:latin typeface="Petrona Bold" pitchFamily="34" charset="0"/>
                <a:ea typeface="Petrona Bold" pitchFamily="34" charset="-122"/>
                <a:cs typeface="Petrona Bold" pitchFamily="34" charset="-120"/>
              </a:rPr>
              <a:t>Duplicate Audit</a:t>
            </a:r>
            <a:endParaRPr lang="en-US" sz="1800" dirty="0"/>
          </a:p>
        </p:txBody>
      </p:sp>
      <p:sp>
        <p:nvSpPr>
          <p:cNvPr id="6" name="Text 3"/>
          <p:cNvSpPr/>
          <p:nvPr/>
        </p:nvSpPr>
        <p:spPr>
          <a:xfrm>
            <a:off x="3019349" y="3950208"/>
            <a:ext cx="1647749" cy="868680"/>
          </a:xfrm>
          <a:prstGeom prst="rect">
            <a:avLst/>
          </a:prstGeom>
          <a:noFill/>
          <a:ln/>
        </p:spPr>
        <p:txBody>
          <a:bodyPr wrap="square" lIns="0" tIns="0" rIns="0" bIns="0" rtlCol="0" anchor="t"/>
          <a:lstStyle/>
          <a:p>
            <a:pPr algn="ctr" indent="0" marL="0">
              <a:lnSpc>
                <a:spcPct val="105000"/>
              </a:lnSpc>
              <a:buNone/>
            </a:pPr>
            <a:r>
              <a:rPr lang="en-US" sz="1400" dirty="0">
                <a:solidFill>
                  <a:srgbClr val="272525"/>
                </a:solidFill>
                <a:latin typeface="Inter" pitchFamily="34" charset="0"/>
                <a:ea typeface="Inter" pitchFamily="34" charset="-122"/>
                <a:cs typeface="Inter" pitchFamily="34" charset="-120"/>
              </a:rPr>
              <a:t>Deduplicate via normalized cross-correlation</a:t>
            </a:r>
            <a:endParaRPr lang="en-US" sz="1400" dirty="0"/>
          </a:p>
        </p:txBody>
      </p:sp>
      <p:sp>
        <p:nvSpPr>
          <p:cNvPr id="7" name="Text 4"/>
          <p:cNvSpPr/>
          <p:nvPr/>
        </p:nvSpPr>
        <p:spPr>
          <a:xfrm>
            <a:off x="7521854" y="3246120"/>
            <a:ext cx="1647749" cy="603504"/>
          </a:xfrm>
          <a:prstGeom prst="rect">
            <a:avLst/>
          </a:prstGeom>
          <a:noFill/>
          <a:ln/>
        </p:spPr>
        <p:txBody>
          <a:bodyPr wrap="square" lIns="0" tIns="0" rIns="0" bIns="0" rtlCol="0" anchor="b"/>
          <a:lstStyle/>
          <a:p>
            <a:pPr algn="ctr" indent="0" marL="0">
              <a:lnSpc>
                <a:spcPct val="104000"/>
              </a:lnSpc>
              <a:buNone/>
            </a:pPr>
            <a:r>
              <a:rPr lang="en-US" sz="1800" b="1" dirty="0">
                <a:solidFill>
                  <a:srgbClr val="000000"/>
                </a:solidFill>
                <a:latin typeface="Petrona Bold" pitchFamily="34" charset="0"/>
                <a:ea typeface="Petrona Bold" pitchFamily="34" charset="-122"/>
                <a:cs typeface="Petrona Bold" pitchFamily="34" charset="-120"/>
              </a:rPr>
              <a:t>Model Compression</a:t>
            </a:r>
            <a:endParaRPr lang="en-US" sz="1800" dirty="0"/>
          </a:p>
        </p:txBody>
      </p:sp>
      <p:sp>
        <p:nvSpPr>
          <p:cNvPr id="8" name="Text 5"/>
          <p:cNvSpPr/>
          <p:nvPr/>
        </p:nvSpPr>
        <p:spPr>
          <a:xfrm>
            <a:off x="7521854" y="3950208"/>
            <a:ext cx="1647749" cy="868680"/>
          </a:xfrm>
          <a:prstGeom prst="rect">
            <a:avLst/>
          </a:prstGeom>
          <a:noFill/>
          <a:ln/>
        </p:spPr>
        <p:txBody>
          <a:bodyPr wrap="square" lIns="0" tIns="0" rIns="0" bIns="0" rtlCol="0" anchor="t"/>
          <a:lstStyle/>
          <a:p>
            <a:pPr algn="ctr" indent="0" marL="0">
              <a:lnSpc>
                <a:spcPct val="105000"/>
              </a:lnSpc>
              <a:buNone/>
            </a:pPr>
            <a:r>
              <a:rPr lang="en-US" sz="1400" dirty="0">
                <a:solidFill>
                  <a:srgbClr val="272525"/>
                </a:solidFill>
                <a:latin typeface="Inter" pitchFamily="34" charset="0"/>
                <a:ea typeface="Inter" pitchFamily="34" charset="-122"/>
                <a:cs typeface="Inter" pitchFamily="34" charset="-120"/>
              </a:rPr>
              <a:t>INT8 quantization and TinyML conversion</a:t>
            </a:r>
            <a:endParaRPr lang="en-US" sz="1400" dirty="0"/>
          </a:p>
        </p:txBody>
      </p:sp>
      <p:sp>
        <p:nvSpPr>
          <p:cNvPr id="9" name="Text 6"/>
          <p:cNvSpPr/>
          <p:nvPr/>
        </p:nvSpPr>
        <p:spPr>
          <a:xfrm>
            <a:off x="768096" y="3246120"/>
            <a:ext cx="1647749" cy="603504"/>
          </a:xfrm>
          <a:prstGeom prst="rect">
            <a:avLst/>
          </a:prstGeom>
          <a:noFill/>
          <a:ln/>
        </p:spPr>
        <p:txBody>
          <a:bodyPr wrap="square" lIns="0" tIns="0" rIns="0" bIns="0" rtlCol="0" anchor="b"/>
          <a:lstStyle/>
          <a:p>
            <a:pPr algn="ctr" indent="0" marL="0">
              <a:lnSpc>
                <a:spcPct val="104000"/>
              </a:lnSpc>
              <a:buNone/>
            </a:pPr>
            <a:r>
              <a:rPr lang="en-US" sz="1800" b="1" dirty="0">
                <a:solidFill>
                  <a:srgbClr val="272525"/>
                </a:solidFill>
                <a:latin typeface="Petrona Bold" pitchFamily="34" charset="0"/>
                <a:ea typeface="Petrona Bold" pitchFamily="34" charset="-122"/>
                <a:cs typeface="Petrona Bold" pitchFamily="34" charset="-120"/>
              </a:rPr>
              <a:t>Cohorts</a:t>
            </a:r>
            <a:endParaRPr lang="en-US" sz="1800" dirty="0"/>
          </a:p>
        </p:txBody>
      </p:sp>
      <p:sp>
        <p:nvSpPr>
          <p:cNvPr id="10" name="Text 7"/>
          <p:cNvSpPr/>
          <p:nvPr/>
        </p:nvSpPr>
        <p:spPr>
          <a:xfrm>
            <a:off x="768096" y="3950208"/>
            <a:ext cx="1647749" cy="868680"/>
          </a:xfrm>
          <a:prstGeom prst="rect">
            <a:avLst/>
          </a:prstGeom>
          <a:noFill/>
          <a:ln/>
        </p:spPr>
        <p:txBody>
          <a:bodyPr wrap="square" lIns="0" tIns="0" rIns="0" bIns="0" rtlCol="0" anchor="t"/>
          <a:lstStyle/>
          <a:p>
            <a:pPr algn="ctr" indent="0" marL="0">
              <a:lnSpc>
                <a:spcPct val="105000"/>
              </a:lnSpc>
              <a:buNone/>
            </a:pPr>
            <a:r>
              <a:rPr lang="en-US" sz="1400" dirty="0">
                <a:solidFill>
                  <a:srgbClr val="272525"/>
                </a:solidFill>
                <a:latin typeface="Inter" pitchFamily="34" charset="0"/>
                <a:ea typeface="Inter" pitchFamily="34" charset="-122"/>
                <a:cs typeface="Inter" pitchFamily="34" charset="-120"/>
              </a:rPr>
              <a:t>Cheng, PMRAM, Sartaj, Br35h</a:t>
            </a:r>
            <a:endParaRPr lang="en-US" sz="1400" dirty="0"/>
          </a:p>
        </p:txBody>
      </p:sp>
      <p:sp>
        <p:nvSpPr>
          <p:cNvPr id="11" name="Text 8"/>
          <p:cNvSpPr/>
          <p:nvPr/>
        </p:nvSpPr>
        <p:spPr>
          <a:xfrm>
            <a:off x="9773107" y="3246120"/>
            <a:ext cx="1647749" cy="603504"/>
          </a:xfrm>
          <a:prstGeom prst="rect">
            <a:avLst/>
          </a:prstGeom>
          <a:noFill/>
          <a:ln/>
        </p:spPr>
        <p:txBody>
          <a:bodyPr wrap="square" lIns="0" tIns="0" rIns="0" bIns="0" rtlCol="0" anchor="b"/>
          <a:lstStyle/>
          <a:p>
            <a:pPr algn="ctr" indent="0" marL="0">
              <a:lnSpc>
                <a:spcPct val="104000"/>
              </a:lnSpc>
              <a:buNone/>
            </a:pPr>
            <a:r>
              <a:rPr lang="en-US" sz="1800" b="1" dirty="0">
                <a:solidFill>
                  <a:srgbClr val="272525"/>
                </a:solidFill>
                <a:latin typeface="Petrona Bold" pitchFamily="34" charset="0"/>
                <a:ea typeface="Petrona Bold" pitchFamily="34" charset="-122"/>
                <a:cs typeface="Petrona Bold" pitchFamily="34" charset="-120"/>
              </a:rPr>
              <a:t>Evaluation</a:t>
            </a:r>
            <a:endParaRPr lang="en-US" sz="1800" dirty="0"/>
          </a:p>
        </p:txBody>
      </p:sp>
      <p:sp>
        <p:nvSpPr>
          <p:cNvPr id="12" name="Text 9"/>
          <p:cNvSpPr/>
          <p:nvPr/>
        </p:nvSpPr>
        <p:spPr>
          <a:xfrm>
            <a:off x="9773107" y="3950208"/>
            <a:ext cx="1647749" cy="868680"/>
          </a:xfrm>
          <a:prstGeom prst="rect">
            <a:avLst/>
          </a:prstGeom>
          <a:noFill/>
          <a:ln/>
        </p:spPr>
        <p:txBody>
          <a:bodyPr wrap="square" lIns="0" tIns="0" rIns="0" bIns="0" rtlCol="0" anchor="t"/>
          <a:lstStyle/>
          <a:p>
            <a:pPr algn="ctr" indent="0" marL="0">
              <a:lnSpc>
                <a:spcPct val="105000"/>
              </a:lnSpc>
              <a:buNone/>
            </a:pPr>
            <a:r>
              <a:rPr lang="en-US" sz="1400" dirty="0">
                <a:solidFill>
                  <a:srgbClr val="272525"/>
                </a:solidFill>
                <a:latin typeface="Inter" pitchFamily="34" charset="0"/>
                <a:ea typeface="Inter" pitchFamily="34" charset="-122"/>
                <a:cs typeface="Inter" pitchFamily="34" charset="-120"/>
              </a:rPr>
              <a:t>Test on held-out hospital with BN recalibration</a:t>
            </a:r>
            <a:endParaRPr lang="en-US" sz="1400" dirty="0"/>
          </a:p>
        </p:txBody>
      </p:sp>
      <p:sp>
        <p:nvSpPr>
          <p:cNvPr id="13" name="Text 10"/>
          <p:cNvSpPr/>
          <p:nvPr/>
        </p:nvSpPr>
        <p:spPr>
          <a:xfrm>
            <a:off x="5270602" y="3246120"/>
            <a:ext cx="1647749" cy="603504"/>
          </a:xfrm>
          <a:prstGeom prst="rect">
            <a:avLst/>
          </a:prstGeom>
          <a:noFill/>
          <a:ln/>
        </p:spPr>
        <p:txBody>
          <a:bodyPr wrap="square" lIns="0" tIns="0" rIns="0" bIns="0" rtlCol="0" anchor="b"/>
          <a:lstStyle/>
          <a:p>
            <a:pPr algn="ctr" indent="0" marL="0">
              <a:lnSpc>
                <a:spcPct val="104000"/>
              </a:lnSpc>
              <a:buNone/>
            </a:pPr>
            <a:r>
              <a:rPr lang="en-US" sz="1800" b="1" dirty="0">
                <a:solidFill>
                  <a:srgbClr val="000000"/>
                </a:solidFill>
                <a:latin typeface="Petrona Bold" pitchFamily="34" charset="0"/>
                <a:ea typeface="Petrona Bold" pitchFamily="34" charset="-122"/>
                <a:cs typeface="Petrona Bold" pitchFamily="34" charset="-120"/>
              </a:rPr>
              <a:t>Federated Training</a:t>
            </a:r>
            <a:endParaRPr lang="en-US" sz="1800" dirty="0"/>
          </a:p>
        </p:txBody>
      </p:sp>
      <p:sp>
        <p:nvSpPr>
          <p:cNvPr id="14" name="Text 11"/>
          <p:cNvSpPr/>
          <p:nvPr/>
        </p:nvSpPr>
        <p:spPr>
          <a:xfrm>
            <a:off x="5270602" y="3950208"/>
            <a:ext cx="1647749" cy="868680"/>
          </a:xfrm>
          <a:prstGeom prst="rect">
            <a:avLst/>
          </a:prstGeom>
          <a:noFill/>
          <a:ln/>
        </p:spPr>
        <p:txBody>
          <a:bodyPr wrap="square" lIns="0" tIns="0" rIns="0" bIns="0" rtlCol="0" anchor="t"/>
          <a:lstStyle/>
          <a:p>
            <a:pPr algn="ctr" indent="0" marL="0">
              <a:lnSpc>
                <a:spcPct val="105000"/>
              </a:lnSpc>
              <a:buNone/>
            </a:pPr>
            <a:r>
              <a:rPr lang="en-US" sz="1400" dirty="0">
                <a:solidFill>
                  <a:srgbClr val="272525"/>
                </a:solidFill>
                <a:latin typeface="Inter" pitchFamily="34" charset="0"/>
                <a:ea typeface="Inter" pitchFamily="34" charset="-122"/>
                <a:cs typeface="Inter" pitchFamily="34" charset="-120"/>
              </a:rPr>
              <a:t>Leave-one-site-out cross-validation</a:t>
            </a:r>
            <a:endParaRPr lang="en-US" sz="1400" dirty="0"/>
          </a:p>
        </p:txBody>
      </p:sp>
      <p:sp>
        <p:nvSpPr>
          <p:cNvPr id="15" name="Shape 12"/>
          <p:cNvSpPr/>
          <p:nvPr/>
        </p:nvSpPr>
        <p:spPr>
          <a:xfrm>
            <a:off x="661475" y="5285232"/>
            <a:ext cx="10868745" cy="1005840"/>
          </a:xfrm>
          <a:prstGeom prst="roundRect">
            <a:avLst>
              <a:gd name="adj" fmla="val 10913"/>
            </a:avLst>
          </a:prstGeom>
          <a:solidFill>
            <a:srgbClr val="CCEEFF"/>
          </a:solidFill>
          <a:ln/>
        </p:spPr>
      </p:sp>
      <p:pic>
        <p:nvPicPr>
          <p:cNvPr id="16" name="Image 1" descr="preencoded.png">    </p:cNvPr>
          <p:cNvPicPr>
            <a:picLocks noChangeAspect="1"/>
          </p:cNvPicPr>
          <p:nvPr/>
        </p:nvPicPr>
        <p:blipFill>
          <a:blip r:embed="rId2"/>
          <a:stretch>
            <a:fillRect/>
          </a:stretch>
        </p:blipFill>
        <p:spPr>
          <a:xfrm>
            <a:off x="841248" y="5486400"/>
            <a:ext cx="192024" cy="146304"/>
          </a:xfrm>
          <a:prstGeom prst="rect">
            <a:avLst/>
          </a:prstGeom>
        </p:spPr>
      </p:pic>
      <p:sp>
        <p:nvSpPr>
          <p:cNvPr id="17" name="Text 13"/>
          <p:cNvSpPr/>
          <p:nvPr/>
        </p:nvSpPr>
        <p:spPr>
          <a:xfrm>
            <a:off x="1188720" y="5422392"/>
            <a:ext cx="10149840" cy="777240"/>
          </a:xfrm>
          <a:prstGeom prst="rect">
            <a:avLst/>
          </a:prstGeom>
          <a:noFill/>
          <a:ln/>
        </p:spPr>
        <p:txBody>
          <a:bodyPr wrap="square" lIns="0" tIns="0" rIns="0" bIns="0" rtlCol="0" anchor="t"/>
          <a:lstStyle/>
          <a:p>
            <a:pPr algn="l" indent="0" marL="0">
              <a:lnSpc>
                <a:spcPct val="110000"/>
              </a:lnSpc>
              <a:buNone/>
            </a:pPr>
            <a:r>
              <a:rPr lang="en-US" sz="1300" dirty="0">
                <a:solidFill>
                  <a:srgbClr val="000000"/>
                </a:solidFill>
                <a:latin typeface="Inter" pitchFamily="34" charset="0"/>
                <a:ea typeface="Inter" pitchFamily="34" charset="-122"/>
                <a:cs typeface="Inter" pitchFamily="34" charset="-120"/>
              </a:rPr>
              <a:t>This card describes the experimental protocol. The leave-one-site-out design ensures the held-out cohort contributes nothing to training, simulating a genuinely unseen hospital. The pipeline diagram shows the five stages from raw data through final evaluation.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523081"/>
            <a:ext cx="10868745" cy="533003"/>
          </a:xfrm>
          <a:prstGeom prst="rect">
            <a:avLst/>
          </a:prstGeom>
          <a:noFill/>
          <a:ln/>
        </p:spPr>
        <p:txBody>
          <a:bodyPr wrap="none" lIns="0" tIns="0" rIns="0" bIns="0" rtlCol="0" anchor="t"/>
          <a:lstStyle/>
          <a:p>
            <a:pPr algn="l" indent="0" marL="0">
              <a:lnSpc>
                <a:spcPct val="104000"/>
              </a:lnSpc>
              <a:buNone/>
            </a:pPr>
            <a:r>
              <a:rPr lang="en-US" sz="3350" b="1" dirty="0">
                <a:solidFill>
                  <a:srgbClr val="000000"/>
                </a:solidFill>
                <a:latin typeface="Petrona Bold" pitchFamily="34" charset="0"/>
                <a:ea typeface="Petrona Bold" pitchFamily="34" charset="-122"/>
                <a:cs typeface="Petrona Bold" pitchFamily="34" charset="-120"/>
              </a:rPr>
              <a:t>Main Result: Normalization Beats the Algorithm</a:t>
            </a:r>
            <a:endParaRPr lang="en-US" sz="3350" dirty="0"/>
          </a:p>
        </p:txBody>
      </p:sp>
      <p:pic>
        <p:nvPicPr>
          <p:cNvPr id="3" name="Image 0" descr="preencoded.png">    </p:cNvPr>
          <p:cNvPicPr>
            <a:picLocks noChangeAspect="1"/>
          </p:cNvPicPr>
          <p:nvPr/>
        </p:nvPicPr>
        <p:blipFill>
          <a:blip r:embed="rId1"/>
          <a:stretch>
            <a:fillRect/>
          </a:stretch>
        </p:blipFill>
        <p:spPr>
          <a:xfrm>
            <a:off x="661475" y="1422400"/>
            <a:ext cx="5236238" cy="3769122"/>
          </a:xfrm>
          <a:prstGeom prst="rect">
            <a:avLst/>
          </a:prstGeom>
        </p:spPr>
      </p:pic>
      <p:sp>
        <p:nvSpPr>
          <p:cNvPr id="4" name="Text 1"/>
          <p:cNvSpPr/>
          <p:nvPr/>
        </p:nvSpPr>
        <p:spPr>
          <a:xfrm>
            <a:off x="6300332" y="1391047"/>
            <a:ext cx="5236238" cy="2926080"/>
          </a:xfrm>
          <a:prstGeom prst="rect">
            <a:avLst/>
          </a:prstGeom>
          <a:noFill/>
          <a:ln/>
        </p:spPr>
        <p:txBody>
          <a:bodyPr wrap="square" lIns="0" tIns="0" rIns="0" bIns="0" rtlCol="0" anchor="t"/>
          <a:lstStyle/>
          <a:p>
            <a:pPr algn="l" indent="0" marL="0">
              <a:lnSpc>
                <a:spcPct val="124000"/>
              </a:lnSpc>
              <a:spcAft>
                <a:spcPts val="950"/>
              </a:spcAft>
              <a:buNone/>
            </a:pPr>
            <a:r>
              <a:rPr lang="en-US" sz="1400" dirty="0">
                <a:solidFill>
                  <a:srgbClr val="272525"/>
                </a:solidFill>
                <a:latin typeface="Inter" pitchFamily="34" charset="0"/>
                <a:ea typeface="Inter" pitchFamily="34" charset="-122"/>
                <a:cs typeface="Inter" pitchFamily="34" charset="-120"/>
              </a:rPr>
              <a:t>FedAvg on Cheng: 76.7% → 93.3%, seed spread 17.7 → 2.0 points.</a:t>
            </a:r>
            <a:endParaRPr lang="en-US" sz="1400" dirty="0"/>
          </a:p>
          <a:p>
            <a:pPr algn="l" indent="0" marL="0">
              <a:lnSpc>
                <a:spcPct val="124000"/>
              </a:lnSpc>
              <a:spcAft>
                <a:spcPts val="950"/>
              </a:spcAft>
              <a:buNone/>
            </a:pPr>
            <a:r>
              <a:rPr lang="en-US" sz="1400" dirty="0">
                <a:solidFill>
                  <a:srgbClr val="272525"/>
                </a:solidFill>
                <a:latin typeface="Inter" pitchFamily="34" charset="0"/>
                <a:ea typeface="Inter" pitchFamily="34" charset="-122"/>
                <a:cs typeface="Inter" pitchFamily="34" charset="-120"/>
              </a:rPr>
              <a:t>QAF-Net is highest on Cheng at 94.7%; FedBN is highest on PMRAM at 78.3%.</a:t>
            </a:r>
            <a:endParaRPr lang="en-US" sz="1400" dirty="0"/>
          </a:p>
          <a:p>
            <a:pPr algn="l" indent="0" marL="0">
              <a:lnSpc>
                <a:spcPct val="124000"/>
              </a:lnSpc>
              <a:buNone/>
            </a:pPr>
            <a:r>
              <a:rPr lang="en-US" sz="1400" dirty="0">
                <a:solidFill>
                  <a:srgbClr val="272525"/>
                </a:solidFill>
                <a:latin typeface="Inter" pitchFamily="34" charset="0"/>
                <a:ea typeface="Inter" pitchFamily="34" charset="-122"/>
                <a:cs typeface="Inter" pitchFamily="34" charset="-120"/>
              </a:rPr>
              <a:t>How the new site gets its normalization statistics matters more than which federated algorithm trained the model.</a:t>
            </a:r>
            <a:endParaRPr lang="en-US" sz="1400" dirty="0"/>
          </a:p>
        </p:txBody>
      </p:sp>
      <p:sp>
        <p:nvSpPr>
          <p:cNvPr id="5" name="Shape 2"/>
          <p:cNvSpPr/>
          <p:nvPr/>
        </p:nvSpPr>
        <p:spPr>
          <a:xfrm>
            <a:off x="661475" y="5505450"/>
            <a:ext cx="10868745" cy="829469"/>
          </a:xfrm>
          <a:prstGeom prst="roundRect">
            <a:avLst>
              <a:gd name="adj" fmla="val 8225"/>
            </a:avLst>
          </a:prstGeom>
          <a:solidFill>
            <a:srgbClr val="CCEEFF"/>
          </a:solidFill>
          <a:ln/>
        </p:spPr>
      </p:sp>
      <p:pic>
        <p:nvPicPr>
          <p:cNvPr id="6" name="Image 1" descr="preencoded.png">    </p:cNvPr>
          <p:cNvPicPr>
            <a:picLocks noChangeAspect="1"/>
          </p:cNvPicPr>
          <p:nvPr/>
        </p:nvPicPr>
        <p:blipFill>
          <a:blip r:embed="rId2"/>
          <a:stretch>
            <a:fillRect/>
          </a:stretch>
        </p:blipFill>
        <p:spPr>
          <a:xfrm>
            <a:off x="823892" y="5708452"/>
            <a:ext cx="202996" cy="162421"/>
          </a:xfrm>
          <a:prstGeom prst="rect">
            <a:avLst/>
          </a:prstGeom>
        </p:spPr>
      </p:pic>
      <p:sp>
        <p:nvSpPr>
          <p:cNvPr id="7" name="Text 3"/>
          <p:cNvSpPr/>
          <p:nvPr/>
        </p:nvSpPr>
        <p:spPr>
          <a:xfrm>
            <a:off x="1189305" y="5650992"/>
            <a:ext cx="10178498" cy="566928"/>
          </a:xfrm>
          <a:prstGeom prst="rect">
            <a:avLst/>
          </a:prstGeom>
          <a:noFill/>
          <a:ln/>
        </p:spPr>
        <p:txBody>
          <a:bodyPr wrap="square" lIns="0" tIns="0" rIns="0" bIns="0" rtlCol="0" anchor="t"/>
          <a:lstStyle/>
          <a:p>
            <a:pPr algn="l" indent="0" marL="0">
              <a:lnSpc>
                <a:spcPct val="124000"/>
              </a:lnSpc>
              <a:buNone/>
            </a:pPr>
            <a:r>
              <a:rPr lang="en-US" sz="1350" dirty="0">
                <a:solidFill>
                  <a:srgbClr val="000000"/>
                </a:solidFill>
                <a:latin typeface="Inter" pitchFamily="34" charset="0"/>
                <a:ea typeface="Inter" pitchFamily="34" charset="-122"/>
                <a:cs typeface="Inter" pitchFamily="34" charset="-120"/>
              </a:rPr>
              <a:t>Averaged batch-norm statistics are unstable: FedAvg scored 56.4%, 88.5% and 85.1% on three seeds of the Cheng fold. Recalibrating on unlabeled scans from the new site: every method reaches 93.3-94.7% with a spread of at most 2.0 points.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556220"/>
            <a:ext cx="10868745" cy="494209"/>
          </a:xfrm>
          <a:prstGeom prst="rect">
            <a:avLst/>
          </a:prstGeom>
          <a:noFill/>
          <a:ln/>
        </p:spPr>
        <p:txBody>
          <a:bodyPr wrap="none" lIns="0" tIns="0" rIns="0" bIns="0" rtlCol="0" anchor="t"/>
          <a:lstStyle/>
          <a:p>
            <a:pPr algn="l" indent="0" marL="0">
              <a:lnSpc>
                <a:spcPct val="104000"/>
              </a:lnSpc>
              <a:buNone/>
            </a:pPr>
            <a:r>
              <a:rPr lang="en-US" sz="3100" b="1" dirty="0">
                <a:solidFill>
                  <a:srgbClr val="000000"/>
                </a:solidFill>
                <a:latin typeface="Petrona Bold" pitchFamily="34" charset="0"/>
                <a:ea typeface="Petrona Bold" pitchFamily="34" charset="-122"/>
                <a:cs typeface="Petrona Bold" pitchFamily="34" charset="-120"/>
              </a:rPr>
              <a:t>The Honest Result: Our Hypothesis Failed</a:t>
            </a:r>
            <a:endParaRPr lang="en-US" sz="3100" dirty="0"/>
          </a:p>
        </p:txBody>
      </p:sp>
      <p:sp>
        <p:nvSpPr>
          <p:cNvPr id="3" name="Text 1"/>
          <p:cNvSpPr/>
          <p:nvPr/>
        </p:nvSpPr>
        <p:spPr>
          <a:xfrm>
            <a:off x="658368" y="1325880"/>
            <a:ext cx="4800600" cy="4023360"/>
          </a:xfrm>
          <a:prstGeom prst="rect">
            <a:avLst/>
          </a:prstGeom>
          <a:noFill/>
          <a:ln/>
        </p:spPr>
        <p:txBody>
          <a:bodyPr wrap="square" lIns="0" tIns="0" rIns="0" bIns="0" rtlCol="0" anchor="ctr"/>
          <a:lstStyle/>
          <a:p>
            <a:pPr algn="l" marL="233680" indent="-233680">
              <a:lnSpc>
                <a:spcPct val="115000"/>
              </a:lnSpc>
              <a:spcAft>
                <a:spcPts val="500"/>
              </a:spcAft>
              <a:buSzPct val="100000"/>
              <a:buChar char="•"/>
            </a:pPr>
            <a:r>
              <a:rPr lang="en-US" sz="1400" dirty="0">
                <a:solidFill>
                  <a:srgbClr val="272525"/>
                </a:solidFill>
                <a:latin typeface="Inter" pitchFamily="34" charset="0"/>
                <a:ea typeface="Inter" pitchFamily="34" charset="-122"/>
                <a:cs typeface="Inter" pitchFamily="34" charset="-120"/>
              </a:rPr>
              <a:t>Prediction: federated training should lose more accuracy to INT8. It did not.</a:t>
            </a:r>
            <a:endParaRPr lang="en-US" sz="1400" dirty="0"/>
          </a:p>
          <a:p>
            <a:pPr algn="l" marL="233680" indent="-233680">
              <a:lnSpc>
                <a:spcPct val="115000"/>
              </a:lnSpc>
              <a:spcAft>
                <a:spcPts val="500"/>
              </a:spcAft>
              <a:buSzPct val="100000"/>
              <a:buChar char="•"/>
            </a:pPr>
            <a:r>
              <a:rPr lang="en-US" sz="1400" dirty="0">
                <a:solidFill>
                  <a:srgbClr val="272525"/>
                </a:solidFill>
                <a:latin typeface="Inter" pitchFamily="34" charset="0"/>
                <a:ea typeface="Inter" pitchFamily="34" charset="-122"/>
                <a:cs typeface="Inter" pitchFamily="34" charset="-120"/>
              </a:rPr>
              <a:t>Centralized lost 8.6 points on PMRAM; no federated method lost more than 4.6 on average.</a:t>
            </a:r>
            <a:endParaRPr lang="en-US" sz="1400" dirty="0"/>
          </a:p>
          <a:p>
            <a:pPr algn="l" marL="233680" indent="-233680">
              <a:lnSpc>
                <a:spcPct val="115000"/>
              </a:lnSpc>
              <a:spcAft>
                <a:spcPts val="500"/>
              </a:spcAft>
              <a:buSzPct val="100000"/>
              <a:buChar char="•"/>
            </a:pPr>
            <a:r>
              <a:rPr lang="en-US" sz="1400" dirty="0">
                <a:solidFill>
                  <a:srgbClr val="272525"/>
                </a:solidFill>
                <a:latin typeface="Inter" pitchFamily="34" charset="0"/>
                <a:ea typeface="Inter" pitchFamily="34" charset="-122"/>
                <a:cs typeface="Inter" pitchFamily="34" charset="-120"/>
              </a:rPr>
              <a:t>We then tested whether our regularizer even worked: it did not move the weights toward the integer grid.</a:t>
            </a:r>
            <a:endParaRPr lang="en-US" sz="1400" dirty="0"/>
          </a:p>
          <a:p>
            <a:pPr algn="l" marL="233680" indent="-233680">
              <a:lnSpc>
                <a:spcPct val="115000"/>
              </a:lnSpc>
              <a:spcAft>
                <a:spcPts val="500"/>
              </a:spcAft>
              <a:buSzPct val="100000"/>
              <a:buChar char="•"/>
            </a:pPr>
            <a:r>
              <a:rPr lang="en-US" sz="1400" dirty="0">
                <a:solidFill>
                  <a:srgbClr val="272525"/>
                </a:solidFill>
                <a:latin typeface="Inter" pitchFamily="34" charset="0"/>
                <a:ea typeface="Inter" pitchFamily="34" charset="-122"/>
                <a:cs typeface="Inter" pitchFamily="34" charset="-120"/>
              </a:rPr>
              <a:t>Mean squared distance from the grid: 0.0818 for QAF-Net, 0.0817 for FedProx (lambda = 0).</a:t>
            </a:r>
            <a:endParaRPr lang="en-US" sz="1400" dirty="0"/>
          </a:p>
          <a:p>
            <a:pPr algn="l" marL="233680" indent="-233680">
              <a:lnSpc>
                <a:spcPct val="115000"/>
              </a:lnSpc>
              <a:spcAft>
                <a:spcPts val="500"/>
              </a:spcAft>
              <a:buSzPct val="100000"/>
              <a:buChar char="•"/>
            </a:pPr>
            <a:r>
              <a:rPr lang="en-US" sz="1400" dirty="0">
                <a:solidFill>
                  <a:srgbClr val="272525"/>
                </a:solidFill>
                <a:latin typeface="Inter" pitchFamily="34" charset="0"/>
                <a:ea typeface="Inter" pitchFamily="34" charset="-122"/>
                <a:cs typeface="Inter" pitchFamily="34" charset="-120"/>
              </a:rPr>
              <a:t>Reason: the term is worth about 0.00001 against a training loss of about 0.23 — far too small.</a:t>
            </a:r>
            <a:endParaRPr lang="en-US" sz="1400" dirty="0"/>
          </a:p>
          <a:p>
            <a:pPr algn="l" marL="233680" indent="-233680">
              <a:lnSpc>
                <a:spcPct val="115000"/>
              </a:lnSpc>
              <a:spcAft>
                <a:spcPts val="500"/>
              </a:spcAft>
              <a:buSzPct val="100000"/>
              <a:buChar char="•"/>
            </a:pPr>
            <a:r>
              <a:rPr lang="en-US" sz="1400" dirty="0">
                <a:solidFill>
                  <a:srgbClr val="272525"/>
                </a:solidFill>
                <a:latin typeface="Inter" pitchFamily="34" charset="0"/>
                <a:ea typeface="Inter" pitchFamily="34" charset="-122"/>
                <a:cs typeface="Inter" pitchFamily="34" charset="-120"/>
              </a:rPr>
              <a:t>We report this rather than hide it; the fix is to scale lambda to the quantization step.</a:t>
            </a:r>
            <a:endParaRPr lang="en-US" sz="1400" dirty="0"/>
          </a:p>
        </p:txBody>
      </p:sp>
      <p:pic>
        <p:nvPicPr>
          <p:cNvPr id="4" name="Image 0" descr="preencoded.png">    </p:cNvPr>
          <p:cNvPicPr>
            <a:picLocks noChangeAspect="1"/>
          </p:cNvPicPr>
          <p:nvPr/>
        </p:nvPicPr>
        <p:blipFill>
          <a:blip r:embed="rId1"/>
          <a:stretch>
            <a:fillRect/>
          </a:stretch>
        </p:blipFill>
        <p:spPr>
          <a:xfrm>
            <a:off x="5760720" y="1703733"/>
            <a:ext cx="5769864" cy="3267654"/>
          </a:xfrm>
          <a:prstGeom prst="rect">
            <a:avLst/>
          </a:prstGeom>
        </p:spPr>
      </p:pic>
      <p:sp>
        <p:nvSpPr>
          <p:cNvPr id="5" name="Shape 2"/>
          <p:cNvSpPr/>
          <p:nvPr/>
        </p:nvSpPr>
        <p:spPr>
          <a:xfrm>
            <a:off x="661475" y="5440680"/>
            <a:ext cx="10868745" cy="914400"/>
          </a:xfrm>
          <a:prstGeom prst="roundRect">
            <a:avLst>
              <a:gd name="adj" fmla="val 8594"/>
            </a:avLst>
          </a:prstGeom>
          <a:solidFill>
            <a:srgbClr val="CCEEFF"/>
          </a:solidFill>
          <a:ln/>
        </p:spPr>
      </p:sp>
      <p:pic>
        <p:nvPicPr>
          <p:cNvPr id="6" name="Image 1" descr="preencoded.png">    </p:cNvPr>
          <p:cNvPicPr>
            <a:picLocks noChangeAspect="1"/>
          </p:cNvPicPr>
          <p:nvPr/>
        </p:nvPicPr>
        <p:blipFill>
          <a:blip r:embed="rId2"/>
          <a:stretch>
            <a:fillRect/>
          </a:stretch>
        </p:blipFill>
        <p:spPr>
          <a:xfrm>
            <a:off x="812085" y="5614416"/>
            <a:ext cx="188213" cy="150614"/>
          </a:xfrm>
          <a:prstGeom prst="rect">
            <a:avLst/>
          </a:prstGeom>
        </p:spPr>
      </p:pic>
      <p:sp>
        <p:nvSpPr>
          <p:cNvPr id="7" name="Text 3"/>
          <p:cNvSpPr/>
          <p:nvPr/>
        </p:nvSpPr>
        <p:spPr>
          <a:xfrm>
            <a:off x="1150909" y="5568696"/>
            <a:ext cx="10228701" cy="713232"/>
          </a:xfrm>
          <a:prstGeom prst="rect">
            <a:avLst/>
          </a:prstGeom>
          <a:noFill/>
          <a:ln/>
        </p:spPr>
        <p:txBody>
          <a:bodyPr wrap="square" lIns="0" tIns="0" rIns="0" bIns="0" rtlCol="0" anchor="t"/>
          <a:lstStyle/>
          <a:p>
            <a:pPr algn="l" indent="0" marL="0">
              <a:lnSpc>
                <a:spcPct val="110000"/>
              </a:lnSpc>
              <a:buNone/>
            </a:pPr>
            <a:r>
              <a:rPr lang="en-US" sz="1300" dirty="0">
                <a:solidFill>
                  <a:srgbClr val="000000"/>
                </a:solidFill>
                <a:latin typeface="Inter" pitchFamily="34" charset="0"/>
                <a:ea typeface="Inter" pitchFamily="34" charset="-122"/>
                <a:cs typeface="Inter" pitchFamily="34" charset="-120"/>
              </a:rPr>
              <a:t>This card reports a negative result honestly. The hypothesis that federated models would lose more accuracy under INT8 quantization was not supported. Furthermore, the quantization regularizer had negligible effect because its magnitude was far too small relative to the training loss.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29134"/>
            <a:ext cx="10868745" cy="503833"/>
          </a:xfrm>
          <a:prstGeom prst="rect">
            <a:avLst/>
          </a:prstGeom>
          <a:noFill/>
          <a:ln/>
        </p:spPr>
        <p:txBody>
          <a:bodyPr wrap="none" lIns="0" tIns="0" rIns="0" bIns="0" rtlCol="0" anchor="t"/>
          <a:lstStyle/>
          <a:p>
            <a:pPr algn="l" indent="0" marL="0">
              <a:lnSpc>
                <a:spcPct val="104000"/>
              </a:lnSpc>
              <a:buNone/>
            </a:pPr>
            <a:r>
              <a:rPr lang="en-US" sz="3150" b="1" dirty="0">
                <a:solidFill>
                  <a:srgbClr val="000000"/>
                </a:solidFill>
                <a:latin typeface="Petrona Bold" pitchFamily="34" charset="0"/>
                <a:ea typeface="Petrona Bold" pitchFamily="34" charset="-122"/>
                <a:cs typeface="Petrona Bold" pitchFamily="34" charset="-120"/>
              </a:rPr>
              <a:t>Where the Models Fail</a:t>
            </a:r>
            <a:endParaRPr lang="en-US" sz="3150" dirty="0"/>
          </a:p>
        </p:txBody>
      </p:sp>
      <p:pic>
        <p:nvPicPr>
          <p:cNvPr id="3" name="Image 0" descr="preencoded.png">    </p:cNvPr>
          <p:cNvPicPr>
            <a:picLocks noChangeAspect="1"/>
          </p:cNvPicPr>
          <p:nvPr/>
        </p:nvPicPr>
        <p:blipFill>
          <a:blip r:embed="rId1"/>
          <a:stretch>
            <a:fillRect/>
          </a:stretch>
        </p:blipFill>
        <p:spPr>
          <a:xfrm>
            <a:off x="658368" y="1652996"/>
            <a:ext cx="5943600" cy="3369129"/>
          </a:xfrm>
          <a:prstGeom prst="rect">
            <a:avLst/>
          </a:prstGeom>
        </p:spPr>
      </p:pic>
      <p:sp>
        <p:nvSpPr>
          <p:cNvPr id="4" name="Text 1"/>
          <p:cNvSpPr/>
          <p:nvPr/>
        </p:nvSpPr>
        <p:spPr>
          <a:xfrm>
            <a:off x="6967728" y="1325880"/>
            <a:ext cx="4562856" cy="4023360"/>
          </a:xfrm>
          <a:prstGeom prst="rect">
            <a:avLst/>
          </a:prstGeom>
          <a:noFill/>
          <a:ln/>
        </p:spPr>
        <p:txBody>
          <a:bodyPr wrap="square" lIns="0" tIns="0" rIns="0" bIns="0" rtlCol="0" anchor="ctr"/>
          <a:lstStyle/>
          <a:p>
            <a:pPr algn="l" marL="243840" indent="-243840">
              <a:lnSpc>
                <a:spcPct val="115000"/>
              </a:lnSpc>
              <a:spcAft>
                <a:spcPts val="500"/>
              </a:spcAft>
              <a:buSzPct val="100000"/>
              <a:buChar char="•"/>
            </a:pPr>
            <a:r>
              <a:rPr lang="en-US" sz="1400" dirty="0">
                <a:solidFill>
                  <a:srgbClr val="272525"/>
                </a:solidFill>
                <a:latin typeface="Inter" pitchFamily="34" charset="0"/>
                <a:ea typeface="Inter" pitchFamily="34" charset="-122"/>
                <a:cs typeface="Inter" pitchFamily="34" charset="-120"/>
              </a:rPr>
              <a:t>On PMRAM, every federated method sends 43–53% of meningiomas to glioma.</a:t>
            </a:r>
            <a:endParaRPr lang="en-US" sz="1400" dirty="0"/>
          </a:p>
          <a:p>
            <a:pPr algn="l" marL="243840" indent="-243840">
              <a:lnSpc>
                <a:spcPct val="115000"/>
              </a:lnSpc>
              <a:spcAft>
                <a:spcPts val="500"/>
              </a:spcAft>
              <a:buSzPct val="100000"/>
              <a:buChar char="•"/>
            </a:pPr>
            <a:r>
              <a:rPr lang="en-US" sz="1400" dirty="0">
                <a:solidFill>
                  <a:srgbClr val="272525"/>
                </a:solidFill>
                <a:latin typeface="Inter" pitchFamily="34" charset="0"/>
                <a:ea typeface="Inter" pitchFamily="34" charset="-122"/>
                <a:cs typeface="Inter" pitchFamily="34" charset="-120"/>
              </a:rPr>
              <a:t>On Sartaj, federated models almost never predict "no tumour": the best recognized 3% of the 309 normal scans, while centralized training recognized 43%.</a:t>
            </a:r>
            <a:endParaRPr lang="en-US" sz="1400" dirty="0"/>
          </a:p>
          <a:p>
            <a:pPr algn="l" marL="243840" indent="-243840">
              <a:lnSpc>
                <a:spcPct val="115000"/>
              </a:lnSpc>
              <a:spcAft>
                <a:spcPts val="500"/>
              </a:spcAft>
              <a:buSzPct val="100000"/>
              <a:buChar char="•"/>
            </a:pPr>
            <a:r>
              <a:rPr lang="en-US" sz="1400" dirty="0">
                <a:solidFill>
                  <a:srgbClr val="272525"/>
                </a:solidFill>
                <a:latin typeface="Inter" pitchFamily="34" charset="0"/>
                <a:ea typeface="Inter" pitchFamily="34" charset="-122"/>
                <a:cs typeface="Inter" pitchFamily="34" charset="-120"/>
              </a:rPr>
              <a:t>Reason: Br35h was the only client holding normal scans, and it held 19% of the training images. A class owned by one client is outweighed by averaging.</a:t>
            </a:r>
            <a:endParaRPr lang="en-US" sz="1400" dirty="0"/>
          </a:p>
          <a:p>
            <a:pPr algn="l" marL="243840" indent="-243840">
              <a:lnSpc>
                <a:spcPct val="115000"/>
              </a:lnSpc>
              <a:spcAft>
                <a:spcPts val="500"/>
              </a:spcAft>
              <a:buSzPct val="100000"/>
              <a:buChar char="•"/>
            </a:pPr>
            <a:r>
              <a:rPr lang="en-US" sz="1400" dirty="0">
                <a:solidFill>
                  <a:srgbClr val="272525"/>
                </a:solidFill>
                <a:latin typeface="Inter" pitchFamily="34" charset="0"/>
                <a:ea typeface="Inter" pitchFamily="34" charset="-122"/>
                <a:cs typeface="Inter" pitchFamily="34" charset="-120"/>
              </a:rPr>
              <a:t>Grad-CAM maps fall on the skull and background more often than on the lesion.</a:t>
            </a:r>
            <a:endParaRPr lang="en-US" sz="1400" dirty="0"/>
          </a:p>
        </p:txBody>
      </p:sp>
      <p:sp>
        <p:nvSpPr>
          <p:cNvPr id="5" name="Shape 2"/>
          <p:cNvSpPr/>
          <p:nvPr/>
        </p:nvSpPr>
        <p:spPr>
          <a:xfrm>
            <a:off x="661475" y="5504688"/>
            <a:ext cx="10868745" cy="822960"/>
          </a:xfrm>
          <a:prstGeom prst="roundRect">
            <a:avLst>
              <a:gd name="adj" fmla="val 8500"/>
            </a:avLst>
          </a:prstGeom>
          <a:solidFill>
            <a:srgbClr val="CCEEFF"/>
          </a:solidFill>
          <a:ln/>
        </p:spPr>
      </p:sp>
      <p:pic>
        <p:nvPicPr>
          <p:cNvPr id="6" name="Image 1" descr="preencoded.png">    </p:cNvPr>
          <p:cNvPicPr>
            <a:picLocks noChangeAspect="1"/>
          </p:cNvPicPr>
          <p:nvPr/>
        </p:nvPicPr>
        <p:blipFill>
          <a:blip r:embed="rId2"/>
          <a:stretch>
            <a:fillRect/>
          </a:stretch>
        </p:blipFill>
        <p:spPr>
          <a:xfrm>
            <a:off x="814962" y="5687568"/>
            <a:ext cx="191884" cy="153491"/>
          </a:xfrm>
          <a:prstGeom prst="rect">
            <a:avLst/>
          </a:prstGeom>
        </p:spPr>
      </p:pic>
      <p:sp>
        <p:nvSpPr>
          <p:cNvPr id="7" name="Text 3"/>
          <p:cNvSpPr/>
          <p:nvPr/>
        </p:nvSpPr>
        <p:spPr>
          <a:xfrm>
            <a:off x="1160334" y="5641848"/>
            <a:ext cx="10216398" cy="594360"/>
          </a:xfrm>
          <a:prstGeom prst="rect">
            <a:avLst/>
          </a:prstGeom>
          <a:noFill/>
          <a:ln/>
        </p:spPr>
        <p:txBody>
          <a:bodyPr wrap="square" lIns="0" tIns="0" rIns="0" bIns="0" rtlCol="0" anchor="t"/>
          <a:lstStyle/>
          <a:p>
            <a:pPr algn="l" indent="0" marL="0">
              <a:lnSpc>
                <a:spcPct val="110000"/>
              </a:lnSpc>
              <a:buNone/>
            </a:pPr>
            <a:r>
              <a:rPr lang="en-US" sz="1300" dirty="0">
                <a:solidFill>
                  <a:srgbClr val="000000"/>
                </a:solidFill>
                <a:latin typeface="Inter" pitchFamily="34" charset="0"/>
                <a:ea typeface="Inter" pitchFamily="34" charset="-122"/>
                <a:cs typeface="Inter" pitchFamily="34" charset="-120"/>
              </a:rPr>
              <a:t>This card highlights systematic failure modes. Class imbalance across federated clients causes severe under-prediction of classes held by only one site. Grad-CAM analysis reveals that attention maps often focus on irrelevant regions rather than the actual lesion.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543719"/>
            <a:ext cx="10868745" cy="503833"/>
          </a:xfrm>
          <a:prstGeom prst="rect">
            <a:avLst/>
          </a:prstGeom>
          <a:noFill/>
          <a:ln/>
        </p:spPr>
        <p:txBody>
          <a:bodyPr wrap="none" lIns="0" tIns="0" rIns="0" bIns="0" rtlCol="0" anchor="t"/>
          <a:lstStyle/>
          <a:p>
            <a:pPr algn="l" indent="0" marL="0">
              <a:lnSpc>
                <a:spcPct val="104000"/>
              </a:lnSpc>
              <a:buNone/>
            </a:pPr>
            <a:r>
              <a:rPr lang="en-US" sz="3150" b="1" dirty="0">
                <a:solidFill>
                  <a:srgbClr val="000000"/>
                </a:solidFill>
                <a:latin typeface="Petrona Bold" pitchFamily="34" charset="0"/>
                <a:ea typeface="Petrona Bold" pitchFamily="34" charset="-122"/>
                <a:cs typeface="Petrona Bold" pitchFamily="34" charset="-120"/>
              </a:rPr>
              <a:t>Does It Fit on a Small Device?</a:t>
            </a:r>
            <a:endParaRPr lang="en-US" sz="31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1475" y="1297087"/>
          <a:ext cx="10863072" cy="2624328"/>
        </p:xfrm>
        <a:graphic>
          <a:graphicData uri="http://schemas.openxmlformats.org/drawingml/2006/table">
            <a:tbl>
              <a:tblPr/>
              <a:tblGrid>
                <a:gridCol w="5434373"/>
                <a:gridCol w="5434373"/>
              </a:tblGrid>
              <a:tr h="374904">
                <a:tc>
                  <a:txBody>
                    <a:bodyPr/>
                    <a:lstStyle/>
                    <a:p>
                      <a:pPr algn="l" indent="0" marL="0">
                        <a:buNone/>
                      </a:pPr>
                      <a:r>
                        <a:rPr lang="en-US" sz="1350" b="1" dirty="0">
                          <a:solidFill>
                            <a:srgbClr val="272525"/>
                          </a:solidFill>
                          <a:latin typeface="Inter" pitchFamily="34" charset="0"/>
                          <a:ea typeface="Inter" pitchFamily="34" charset="-122"/>
                          <a:cs typeface="Inter" pitchFamily="34" charset="-120"/>
                        </a:rPr>
                        <a:t>Specification</a:t>
                      </a:r>
                      <a:endParaRPr lang="en-US" sz="1350" dirty="0">
                        <a:latin typeface="Inter" charset="0"/>
                        <a:ea typeface="Inter" charset="0"/>
                        <a:cs typeface="Inter" charset="0"/>
                      </a:endParaRPr>
                    </a:p>
                  </a:txBody>
                  <a:tcPr marL="153577" marR="153577" marT="6350" marB="6350" anchor="ctr">
                    <a:lnL w="12700" cap="flat" cmpd="sng" algn="ctr">
                      <a:solidFill>
                        <a:srgbClr val="B2D4E5"/>
                      </a:solidFill>
                      <a:prstDash val="solid"/>
                      <a:round/>
                      <a:headEnd type="none" w="med" len="med"/>
                      <a:tailEnd type="none" w="med" len="med"/>
                    </a:lnL>
                    <a:lnR w="12700" cap="flat" cmpd="sng" algn="ctr">
                      <a:solidFill>
                        <a:srgbClr val="B2D4E5"/>
                      </a:solidFill>
                      <a:prstDash val="solid"/>
                      <a:round/>
                      <a:headEnd type="none" w="med" len="med"/>
                      <a:tailEnd type="none" w="med" len="med"/>
                    </a:lnR>
                    <a:lnT w="12700" cap="flat" cmpd="sng" algn="ctr">
                      <a:solidFill>
                        <a:srgbClr val="B2D4E5"/>
                      </a:solidFill>
                      <a:prstDash val="solid"/>
                      <a:round/>
                      <a:headEnd type="none" w="med" len="med"/>
                      <a:tailEnd type="none" w="med" len="med"/>
                    </a:lnT>
                    <a:lnB w="12700" cap="flat" cmpd="sng" algn="ctr">
                      <a:solidFill>
                        <a:srgbClr val="B2D4E5"/>
                      </a:solidFill>
                      <a:prstDash val="solid"/>
                      <a:round/>
                      <a:headEnd type="none" w="med" len="med"/>
                      <a:tailEnd type="none" w="med" len="med"/>
                    </a:lnB>
                  </a:tcPr>
                </a:tc>
                <a:tc>
                  <a:txBody>
                    <a:bodyPr/>
                    <a:lstStyle/>
                    <a:p>
                      <a:pPr algn="l" indent="0" marL="0">
                        <a:buNone/>
                      </a:pPr>
                      <a:r>
                        <a:rPr lang="en-US" sz="1350" b="1" dirty="0">
                          <a:solidFill>
                            <a:srgbClr val="272525"/>
                          </a:solidFill>
                          <a:latin typeface="Inter" pitchFamily="34" charset="0"/>
                          <a:ea typeface="Inter" pitchFamily="34" charset="-122"/>
                          <a:cs typeface="Inter" pitchFamily="34" charset="-120"/>
                        </a:rPr>
                        <a:t>Value</a:t>
                      </a:r>
                      <a:endParaRPr lang="en-US" sz="1350" dirty="0">
                        <a:latin typeface="Inter" charset="0"/>
                        <a:ea typeface="Inter" charset="0"/>
                        <a:cs typeface="Inter" charset="0"/>
                      </a:endParaRPr>
                    </a:p>
                  </a:txBody>
                  <a:tcPr marL="153577" marR="153577" marT="6350" marB="6350" anchor="ctr">
                    <a:lnL w="12700" cap="flat" cmpd="sng" algn="ctr">
                      <a:solidFill>
                        <a:srgbClr val="B2D4E5"/>
                      </a:solidFill>
                      <a:prstDash val="solid"/>
                      <a:round/>
                      <a:headEnd type="none" w="med" len="med"/>
                      <a:tailEnd type="none" w="med" len="med"/>
                    </a:lnL>
                    <a:lnR w="12700" cap="flat" cmpd="sng" algn="ctr">
                      <a:solidFill>
                        <a:srgbClr val="B2D4E5"/>
                      </a:solidFill>
                      <a:prstDash val="solid"/>
                      <a:round/>
                      <a:headEnd type="none" w="med" len="med"/>
                      <a:tailEnd type="none" w="med" len="med"/>
                    </a:lnR>
                    <a:lnT w="12700" cap="flat" cmpd="sng" algn="ctr">
                      <a:solidFill>
                        <a:srgbClr val="B2D4E5"/>
                      </a:solidFill>
                      <a:prstDash val="solid"/>
                      <a:round/>
                      <a:headEnd type="none" w="med" len="med"/>
                      <a:tailEnd type="none" w="med" len="med"/>
                    </a:lnT>
                    <a:lnB w="12700" cap="flat" cmpd="sng" algn="ctr">
                      <a:solidFill>
                        <a:srgbClr val="B2D4E5"/>
                      </a:solidFill>
                      <a:prstDash val="solid"/>
                      <a:round/>
                      <a:headEnd type="none" w="med" len="med"/>
                      <a:tailEnd type="none" w="med" len="med"/>
                    </a:lnB>
                  </a:tcPr>
                </a:tc>
              </a:tr>
              <a:tr h="374904">
                <a:tc>
                  <a:txBody>
                    <a:bodyPr/>
                    <a:lstStyle/>
                    <a:p>
                      <a:pPr algn="l" indent="0" marL="0">
                        <a:buNone/>
                      </a:pPr>
                      <a:r>
                        <a:rPr lang="en-US" sz="1350" dirty="0">
                          <a:solidFill>
                            <a:srgbClr val="272525"/>
                          </a:solidFill>
                          <a:latin typeface="Inter" pitchFamily="34" charset="0"/>
                          <a:ea typeface="Inter" pitchFamily="34" charset="-122"/>
                          <a:cs typeface="Inter" pitchFamily="34" charset="-120"/>
                        </a:rPr>
                        <a:t>Model size (INT8)</a:t>
                      </a:r>
                      <a:endParaRPr lang="en-US" sz="1350" dirty="0">
                        <a:latin typeface="Inter" charset="0"/>
                        <a:ea typeface="Inter" charset="0"/>
                        <a:cs typeface="Inter" charset="0"/>
                      </a:endParaRPr>
                    </a:p>
                  </a:txBody>
                  <a:tcPr marL="153577" marR="153577" marT="6350" marB="6350" anchor="ctr">
                    <a:lnL w="12700" cap="flat" cmpd="sng" algn="ctr">
                      <a:solidFill>
                        <a:srgbClr val="B2D4E5"/>
                      </a:solidFill>
                      <a:prstDash val="solid"/>
                      <a:round/>
                      <a:headEnd type="none" w="med" len="med"/>
                      <a:tailEnd type="none" w="med" len="med"/>
                    </a:lnL>
                    <a:lnR w="12700" cap="flat" cmpd="sng" algn="ctr">
                      <a:solidFill>
                        <a:srgbClr val="B2D4E5"/>
                      </a:solidFill>
                      <a:prstDash val="solid"/>
                      <a:round/>
                      <a:headEnd type="none" w="med" len="med"/>
                      <a:tailEnd type="none" w="med" len="med"/>
                    </a:lnR>
                    <a:lnT w="12700" cap="flat" cmpd="sng" algn="ctr">
                      <a:solidFill>
                        <a:srgbClr val="B2D4E5"/>
                      </a:solidFill>
                      <a:prstDash val="solid"/>
                      <a:round/>
                      <a:headEnd type="none" w="med" len="med"/>
                      <a:tailEnd type="none" w="med" len="med"/>
                    </a:lnT>
                    <a:lnB w="12700" cap="flat" cmpd="sng" algn="ctr">
                      <a:solidFill>
                        <a:srgbClr val="B2D4E5"/>
                      </a:solidFill>
                      <a:prstDash val="solid"/>
                      <a:round/>
                      <a:headEnd type="none" w="med" len="med"/>
                      <a:tailEnd type="none" w="med" len="med"/>
                    </a:lnB>
                  </a:tcPr>
                </a:tc>
                <a:tc>
                  <a:txBody>
                    <a:bodyPr/>
                    <a:lstStyle/>
                    <a:p>
                      <a:pPr algn="l" indent="0" marL="0">
                        <a:buNone/>
                      </a:pPr>
                      <a:r>
                        <a:rPr lang="en-US" sz="1350" dirty="0">
                          <a:solidFill>
                            <a:srgbClr val="272525"/>
                          </a:solidFill>
                          <a:latin typeface="Inter" pitchFamily="34" charset="0"/>
                          <a:ea typeface="Inter" pitchFamily="34" charset="-122"/>
                          <a:cs typeface="Inter" pitchFamily="34" charset="-120"/>
                        </a:rPr>
                        <a:t>606.3 KB</a:t>
                      </a:r>
                      <a:endParaRPr lang="en-US" sz="1350" dirty="0">
                        <a:latin typeface="Inter" charset="0"/>
                        <a:ea typeface="Inter" charset="0"/>
                        <a:cs typeface="Inter" charset="0"/>
                      </a:endParaRPr>
                    </a:p>
                  </a:txBody>
                  <a:tcPr marL="153577" marR="153577" marT="6350" marB="6350" anchor="ctr">
                    <a:lnL w="12700" cap="flat" cmpd="sng" algn="ctr">
                      <a:solidFill>
                        <a:srgbClr val="B2D4E5"/>
                      </a:solidFill>
                      <a:prstDash val="solid"/>
                      <a:round/>
                      <a:headEnd type="none" w="med" len="med"/>
                      <a:tailEnd type="none" w="med" len="med"/>
                    </a:lnL>
                    <a:lnR w="12700" cap="flat" cmpd="sng" algn="ctr">
                      <a:solidFill>
                        <a:srgbClr val="B2D4E5"/>
                      </a:solidFill>
                      <a:prstDash val="solid"/>
                      <a:round/>
                      <a:headEnd type="none" w="med" len="med"/>
                      <a:tailEnd type="none" w="med" len="med"/>
                    </a:lnR>
                    <a:lnT w="12700" cap="flat" cmpd="sng" algn="ctr">
                      <a:solidFill>
                        <a:srgbClr val="B2D4E5"/>
                      </a:solidFill>
                      <a:prstDash val="solid"/>
                      <a:round/>
                      <a:headEnd type="none" w="med" len="med"/>
                      <a:tailEnd type="none" w="med" len="med"/>
                    </a:lnT>
                    <a:lnB w="12700" cap="flat" cmpd="sng" algn="ctr">
                      <a:solidFill>
                        <a:srgbClr val="B2D4E5"/>
                      </a:solidFill>
                      <a:prstDash val="solid"/>
                      <a:round/>
                      <a:headEnd type="none" w="med" len="med"/>
                      <a:tailEnd type="none" w="med" len="med"/>
                    </a:lnB>
                  </a:tcPr>
                </a:tc>
              </a:tr>
              <a:tr h="374904">
                <a:tc>
                  <a:txBody>
                    <a:bodyPr/>
                    <a:lstStyle/>
                    <a:p>
                      <a:pPr algn="l" indent="0" marL="0">
                        <a:buNone/>
                      </a:pPr>
                      <a:r>
                        <a:rPr lang="en-US" sz="1350" dirty="0">
                          <a:solidFill>
                            <a:srgbClr val="272525"/>
                          </a:solidFill>
                          <a:latin typeface="Inter" pitchFamily="34" charset="0"/>
                          <a:ea typeface="Inter" pitchFamily="34" charset="-122"/>
                          <a:cs typeface="Inter" pitchFamily="34" charset="-120"/>
                        </a:rPr>
                        <a:t>Parameters</a:t>
                      </a:r>
                      <a:endParaRPr lang="en-US" sz="1350" dirty="0">
                        <a:latin typeface="Inter" charset="0"/>
                        <a:ea typeface="Inter" charset="0"/>
                        <a:cs typeface="Inter" charset="0"/>
                      </a:endParaRPr>
                    </a:p>
                  </a:txBody>
                  <a:tcPr marL="153577" marR="153577" marT="6350" marB="6350" anchor="ctr">
                    <a:lnL w="12700" cap="flat" cmpd="sng" algn="ctr">
                      <a:solidFill>
                        <a:srgbClr val="B2D4E5"/>
                      </a:solidFill>
                      <a:prstDash val="solid"/>
                      <a:round/>
                      <a:headEnd type="none" w="med" len="med"/>
                      <a:tailEnd type="none" w="med" len="med"/>
                    </a:lnL>
                    <a:lnR w="12700" cap="flat" cmpd="sng" algn="ctr">
                      <a:solidFill>
                        <a:srgbClr val="B2D4E5"/>
                      </a:solidFill>
                      <a:prstDash val="solid"/>
                      <a:round/>
                      <a:headEnd type="none" w="med" len="med"/>
                      <a:tailEnd type="none" w="med" len="med"/>
                    </a:lnR>
                    <a:lnT w="12700" cap="flat" cmpd="sng" algn="ctr">
                      <a:solidFill>
                        <a:srgbClr val="B2D4E5"/>
                      </a:solidFill>
                      <a:prstDash val="solid"/>
                      <a:round/>
                      <a:headEnd type="none" w="med" len="med"/>
                      <a:tailEnd type="none" w="med" len="med"/>
                    </a:lnT>
                    <a:lnB w="12700" cap="flat" cmpd="sng" algn="ctr">
                      <a:solidFill>
                        <a:srgbClr val="B2D4E5"/>
                      </a:solidFill>
                      <a:prstDash val="solid"/>
                      <a:round/>
                      <a:headEnd type="none" w="med" len="med"/>
                      <a:tailEnd type="none" w="med" len="med"/>
                    </a:lnB>
                  </a:tcPr>
                </a:tc>
                <a:tc>
                  <a:txBody>
                    <a:bodyPr/>
                    <a:lstStyle/>
                    <a:p>
                      <a:pPr algn="l" indent="0" marL="0">
                        <a:buNone/>
                      </a:pPr>
                      <a:r>
                        <a:rPr lang="en-US" sz="1350" dirty="0">
                          <a:solidFill>
                            <a:srgbClr val="272525"/>
                          </a:solidFill>
                          <a:latin typeface="Inter" pitchFamily="34" charset="0"/>
                          <a:ea typeface="Inter" pitchFamily="34" charset="-122"/>
                          <a:cs typeface="Inter" pitchFamily="34" charset="-120"/>
                        </a:rPr>
                        <a:t>415,332</a:t>
                      </a:r>
                      <a:endParaRPr lang="en-US" sz="1350" dirty="0">
                        <a:latin typeface="Inter" charset="0"/>
                        <a:ea typeface="Inter" charset="0"/>
                        <a:cs typeface="Inter" charset="0"/>
                      </a:endParaRPr>
                    </a:p>
                  </a:txBody>
                  <a:tcPr marL="153577" marR="153577" marT="6350" marB="6350" anchor="ctr">
                    <a:lnL w="12700" cap="flat" cmpd="sng" algn="ctr">
                      <a:solidFill>
                        <a:srgbClr val="B2D4E5"/>
                      </a:solidFill>
                      <a:prstDash val="solid"/>
                      <a:round/>
                      <a:headEnd type="none" w="med" len="med"/>
                      <a:tailEnd type="none" w="med" len="med"/>
                    </a:lnL>
                    <a:lnR w="12700" cap="flat" cmpd="sng" algn="ctr">
                      <a:solidFill>
                        <a:srgbClr val="B2D4E5"/>
                      </a:solidFill>
                      <a:prstDash val="solid"/>
                      <a:round/>
                      <a:headEnd type="none" w="med" len="med"/>
                      <a:tailEnd type="none" w="med" len="med"/>
                    </a:lnR>
                    <a:lnT w="12700" cap="flat" cmpd="sng" algn="ctr">
                      <a:solidFill>
                        <a:srgbClr val="B2D4E5"/>
                      </a:solidFill>
                      <a:prstDash val="solid"/>
                      <a:round/>
                      <a:headEnd type="none" w="med" len="med"/>
                      <a:tailEnd type="none" w="med" len="med"/>
                    </a:lnT>
                    <a:lnB w="12700" cap="flat" cmpd="sng" algn="ctr">
                      <a:solidFill>
                        <a:srgbClr val="B2D4E5"/>
                      </a:solidFill>
                      <a:prstDash val="solid"/>
                      <a:round/>
                      <a:headEnd type="none" w="med" len="med"/>
                      <a:tailEnd type="none" w="med" len="med"/>
                    </a:lnB>
                  </a:tcPr>
                </a:tc>
              </a:tr>
              <a:tr h="374904">
                <a:tc>
                  <a:txBody>
                    <a:bodyPr/>
                    <a:lstStyle/>
                    <a:p>
                      <a:pPr algn="l" indent="0" marL="0">
                        <a:buNone/>
                      </a:pPr>
                      <a:r>
                        <a:rPr lang="en-US" sz="1350" dirty="0">
                          <a:solidFill>
                            <a:srgbClr val="272525"/>
                          </a:solidFill>
                          <a:latin typeface="Inter" pitchFamily="34" charset="0"/>
                          <a:ea typeface="Inter" pitchFamily="34" charset="-122"/>
                          <a:cs typeface="Inter" pitchFamily="34" charset="-120"/>
                        </a:rPr>
                        <a:t>Compute per image</a:t>
                      </a:r>
                      <a:endParaRPr lang="en-US" sz="1350" dirty="0">
                        <a:latin typeface="Inter" charset="0"/>
                        <a:ea typeface="Inter" charset="0"/>
                        <a:cs typeface="Inter" charset="0"/>
                      </a:endParaRPr>
                    </a:p>
                  </a:txBody>
                  <a:tcPr marL="153577" marR="153577" marT="6350" marB="6350" anchor="ctr">
                    <a:lnL w="12700" cap="flat" cmpd="sng" algn="ctr">
                      <a:solidFill>
                        <a:srgbClr val="B2D4E5"/>
                      </a:solidFill>
                      <a:prstDash val="solid"/>
                      <a:round/>
                      <a:headEnd type="none" w="med" len="med"/>
                      <a:tailEnd type="none" w="med" len="med"/>
                    </a:lnL>
                    <a:lnR w="12700" cap="flat" cmpd="sng" algn="ctr">
                      <a:solidFill>
                        <a:srgbClr val="B2D4E5"/>
                      </a:solidFill>
                      <a:prstDash val="solid"/>
                      <a:round/>
                      <a:headEnd type="none" w="med" len="med"/>
                      <a:tailEnd type="none" w="med" len="med"/>
                    </a:lnR>
                    <a:lnT w="12700" cap="flat" cmpd="sng" algn="ctr">
                      <a:solidFill>
                        <a:srgbClr val="B2D4E5"/>
                      </a:solidFill>
                      <a:prstDash val="solid"/>
                      <a:round/>
                      <a:headEnd type="none" w="med" len="med"/>
                      <a:tailEnd type="none" w="med" len="med"/>
                    </a:lnT>
                    <a:lnB w="12700" cap="flat" cmpd="sng" algn="ctr">
                      <a:solidFill>
                        <a:srgbClr val="B2D4E5"/>
                      </a:solidFill>
                      <a:prstDash val="solid"/>
                      <a:round/>
                      <a:headEnd type="none" w="med" len="med"/>
                      <a:tailEnd type="none" w="med" len="med"/>
                    </a:lnB>
                  </a:tcPr>
                </a:tc>
                <a:tc>
                  <a:txBody>
                    <a:bodyPr/>
                    <a:lstStyle/>
                    <a:p>
                      <a:pPr algn="l" indent="0" marL="0">
                        <a:buNone/>
                      </a:pPr>
                      <a:r>
                        <a:rPr lang="en-US" sz="1350" dirty="0">
                          <a:solidFill>
                            <a:srgbClr val="272525"/>
                          </a:solidFill>
                          <a:latin typeface="Inter" pitchFamily="34" charset="0"/>
                          <a:ea typeface="Inter" pitchFamily="34" charset="-122"/>
                          <a:cs typeface="Inter" pitchFamily="34" charset="-120"/>
                        </a:rPr>
                        <a:t>18.9 M MACs</a:t>
                      </a:r>
                      <a:endParaRPr lang="en-US" sz="1350" dirty="0">
                        <a:latin typeface="Inter" charset="0"/>
                        <a:ea typeface="Inter" charset="0"/>
                        <a:cs typeface="Inter" charset="0"/>
                      </a:endParaRPr>
                    </a:p>
                  </a:txBody>
                  <a:tcPr marL="153577" marR="153577" marT="6350" marB="6350" anchor="ctr">
                    <a:lnL w="12700" cap="flat" cmpd="sng" algn="ctr">
                      <a:solidFill>
                        <a:srgbClr val="B2D4E5"/>
                      </a:solidFill>
                      <a:prstDash val="solid"/>
                      <a:round/>
                      <a:headEnd type="none" w="med" len="med"/>
                      <a:tailEnd type="none" w="med" len="med"/>
                    </a:lnL>
                    <a:lnR w="12700" cap="flat" cmpd="sng" algn="ctr">
                      <a:solidFill>
                        <a:srgbClr val="B2D4E5"/>
                      </a:solidFill>
                      <a:prstDash val="solid"/>
                      <a:round/>
                      <a:headEnd type="none" w="med" len="med"/>
                      <a:tailEnd type="none" w="med" len="med"/>
                    </a:lnR>
                    <a:lnT w="12700" cap="flat" cmpd="sng" algn="ctr">
                      <a:solidFill>
                        <a:srgbClr val="B2D4E5"/>
                      </a:solidFill>
                      <a:prstDash val="solid"/>
                      <a:round/>
                      <a:headEnd type="none" w="med" len="med"/>
                      <a:tailEnd type="none" w="med" len="med"/>
                    </a:lnT>
                    <a:lnB w="12700" cap="flat" cmpd="sng" algn="ctr">
                      <a:solidFill>
                        <a:srgbClr val="B2D4E5"/>
                      </a:solidFill>
                      <a:prstDash val="solid"/>
                      <a:round/>
                      <a:headEnd type="none" w="med" len="med"/>
                      <a:tailEnd type="none" w="med" len="med"/>
                    </a:lnB>
                  </a:tcPr>
                </a:tc>
              </a:tr>
              <a:tr h="374904">
                <a:tc>
                  <a:txBody>
                    <a:bodyPr/>
                    <a:lstStyle/>
                    <a:p>
                      <a:pPr algn="l" indent="0" marL="0">
                        <a:buNone/>
                      </a:pPr>
                      <a:r>
                        <a:rPr lang="en-US" sz="1350" dirty="0">
                          <a:solidFill>
                            <a:srgbClr val="272525"/>
                          </a:solidFill>
                          <a:latin typeface="Inter" pitchFamily="34" charset="0"/>
                          <a:ea typeface="Inter" pitchFamily="34" charset="-122"/>
                          <a:cs typeface="Inter" pitchFamily="34" charset="-120"/>
                        </a:rPr>
                        <a:t>Inference speed (CPU)</a:t>
                      </a:r>
                      <a:endParaRPr lang="en-US" sz="1350" dirty="0">
                        <a:latin typeface="Inter" charset="0"/>
                        <a:ea typeface="Inter" charset="0"/>
                        <a:cs typeface="Inter" charset="0"/>
                      </a:endParaRPr>
                    </a:p>
                  </a:txBody>
                  <a:tcPr marL="153577" marR="153577" marT="6350" marB="6350" anchor="ctr">
                    <a:lnL w="12700" cap="flat" cmpd="sng" algn="ctr">
                      <a:solidFill>
                        <a:srgbClr val="B2D4E5"/>
                      </a:solidFill>
                      <a:prstDash val="solid"/>
                      <a:round/>
                      <a:headEnd type="none" w="med" len="med"/>
                      <a:tailEnd type="none" w="med" len="med"/>
                    </a:lnL>
                    <a:lnR w="12700" cap="flat" cmpd="sng" algn="ctr">
                      <a:solidFill>
                        <a:srgbClr val="B2D4E5"/>
                      </a:solidFill>
                      <a:prstDash val="solid"/>
                      <a:round/>
                      <a:headEnd type="none" w="med" len="med"/>
                      <a:tailEnd type="none" w="med" len="med"/>
                    </a:lnR>
                    <a:lnT w="12700" cap="flat" cmpd="sng" algn="ctr">
                      <a:solidFill>
                        <a:srgbClr val="B2D4E5"/>
                      </a:solidFill>
                      <a:prstDash val="solid"/>
                      <a:round/>
                      <a:headEnd type="none" w="med" len="med"/>
                      <a:tailEnd type="none" w="med" len="med"/>
                    </a:lnT>
                    <a:lnB w="12700" cap="flat" cmpd="sng" algn="ctr">
                      <a:solidFill>
                        <a:srgbClr val="B2D4E5"/>
                      </a:solidFill>
                      <a:prstDash val="solid"/>
                      <a:round/>
                      <a:headEnd type="none" w="med" len="med"/>
                      <a:tailEnd type="none" w="med" len="med"/>
                    </a:lnB>
                  </a:tcPr>
                </a:tc>
                <a:tc>
                  <a:txBody>
                    <a:bodyPr/>
                    <a:lstStyle/>
                    <a:p>
                      <a:pPr algn="l" indent="0" marL="0">
                        <a:buNone/>
                      </a:pPr>
                      <a:r>
                        <a:rPr lang="en-US" sz="1350" dirty="0">
                          <a:solidFill>
                            <a:srgbClr val="272525"/>
                          </a:solidFill>
                          <a:latin typeface="Inter" pitchFamily="34" charset="0"/>
                          <a:ea typeface="Inter" pitchFamily="34" charset="-122"/>
                          <a:cs typeface="Inter" pitchFamily="34" charset="-120"/>
                        </a:rPr>
                        <a:t>~1.9 ms / slice</a:t>
                      </a:r>
                      <a:endParaRPr lang="en-US" sz="1350" dirty="0">
                        <a:latin typeface="Inter" charset="0"/>
                        <a:ea typeface="Inter" charset="0"/>
                        <a:cs typeface="Inter" charset="0"/>
                      </a:endParaRPr>
                    </a:p>
                  </a:txBody>
                  <a:tcPr marL="153577" marR="153577" marT="6350" marB="6350" anchor="ctr">
                    <a:lnL w="12700" cap="flat" cmpd="sng" algn="ctr">
                      <a:solidFill>
                        <a:srgbClr val="B2D4E5"/>
                      </a:solidFill>
                      <a:prstDash val="solid"/>
                      <a:round/>
                      <a:headEnd type="none" w="med" len="med"/>
                      <a:tailEnd type="none" w="med" len="med"/>
                    </a:lnL>
                    <a:lnR w="12700" cap="flat" cmpd="sng" algn="ctr">
                      <a:solidFill>
                        <a:srgbClr val="B2D4E5"/>
                      </a:solidFill>
                      <a:prstDash val="solid"/>
                      <a:round/>
                      <a:headEnd type="none" w="med" len="med"/>
                      <a:tailEnd type="none" w="med" len="med"/>
                    </a:lnR>
                    <a:lnT w="12700" cap="flat" cmpd="sng" algn="ctr">
                      <a:solidFill>
                        <a:srgbClr val="B2D4E5"/>
                      </a:solidFill>
                      <a:prstDash val="solid"/>
                      <a:round/>
                      <a:headEnd type="none" w="med" len="med"/>
                      <a:tailEnd type="none" w="med" len="med"/>
                    </a:lnT>
                    <a:lnB w="12700" cap="flat" cmpd="sng" algn="ctr">
                      <a:solidFill>
                        <a:srgbClr val="B2D4E5"/>
                      </a:solidFill>
                      <a:prstDash val="solid"/>
                      <a:round/>
                      <a:headEnd type="none" w="med" len="med"/>
                      <a:tailEnd type="none" w="med" len="med"/>
                    </a:lnB>
                  </a:tcPr>
                </a:tc>
              </a:tr>
              <a:tr h="374904">
                <a:tc>
                  <a:txBody>
                    <a:bodyPr/>
                    <a:lstStyle/>
                    <a:p>
                      <a:pPr algn="l" indent="0" marL="0">
                        <a:buNone/>
                      </a:pPr>
                      <a:r>
                        <a:rPr lang="en-US" sz="1350" dirty="0">
                          <a:solidFill>
                            <a:srgbClr val="272525"/>
                          </a:solidFill>
                          <a:latin typeface="Inter" pitchFamily="34" charset="0"/>
                          <a:ea typeface="Inter" pitchFamily="34" charset="-122"/>
                          <a:cs typeface="Inter" pitchFamily="34" charset="-120"/>
                        </a:rPr>
                        <a:t>95th percentile latency</a:t>
                      </a:r>
                      <a:endParaRPr lang="en-US" sz="1350" dirty="0">
                        <a:latin typeface="Inter" charset="0"/>
                        <a:ea typeface="Inter" charset="0"/>
                        <a:cs typeface="Inter" charset="0"/>
                      </a:endParaRPr>
                    </a:p>
                  </a:txBody>
                  <a:tcPr marL="153577" marR="153577" marT="6350" marB="6350" anchor="ctr">
                    <a:lnL w="12700" cap="flat" cmpd="sng" algn="ctr">
                      <a:solidFill>
                        <a:srgbClr val="B2D4E5"/>
                      </a:solidFill>
                      <a:prstDash val="solid"/>
                      <a:round/>
                      <a:headEnd type="none" w="med" len="med"/>
                      <a:tailEnd type="none" w="med" len="med"/>
                    </a:lnL>
                    <a:lnR w="12700" cap="flat" cmpd="sng" algn="ctr">
                      <a:solidFill>
                        <a:srgbClr val="B2D4E5"/>
                      </a:solidFill>
                      <a:prstDash val="solid"/>
                      <a:round/>
                      <a:headEnd type="none" w="med" len="med"/>
                      <a:tailEnd type="none" w="med" len="med"/>
                    </a:lnR>
                    <a:lnT w="12700" cap="flat" cmpd="sng" algn="ctr">
                      <a:solidFill>
                        <a:srgbClr val="B2D4E5"/>
                      </a:solidFill>
                      <a:prstDash val="solid"/>
                      <a:round/>
                      <a:headEnd type="none" w="med" len="med"/>
                      <a:tailEnd type="none" w="med" len="med"/>
                    </a:lnT>
                    <a:lnB w="12700" cap="flat" cmpd="sng" algn="ctr">
                      <a:solidFill>
                        <a:srgbClr val="B2D4E5"/>
                      </a:solidFill>
                      <a:prstDash val="solid"/>
                      <a:round/>
                      <a:headEnd type="none" w="med" len="med"/>
                      <a:tailEnd type="none" w="med" len="med"/>
                    </a:lnB>
                  </a:tcPr>
                </a:tc>
                <a:tc>
                  <a:txBody>
                    <a:bodyPr/>
                    <a:lstStyle/>
                    <a:p>
                      <a:pPr algn="l" indent="0" marL="0">
                        <a:buNone/>
                      </a:pPr>
                      <a:r>
                        <a:rPr lang="en-US" sz="1350" dirty="0">
                          <a:solidFill>
                            <a:srgbClr val="272525"/>
                          </a:solidFill>
                          <a:latin typeface="Inter" pitchFamily="34" charset="0"/>
                          <a:ea typeface="Inter" pitchFamily="34" charset="-122"/>
                          <a:cs typeface="Inter" pitchFamily="34" charset="-120"/>
                        </a:rPr>
                        <a:t>2.3 ms</a:t>
                      </a:r>
                      <a:endParaRPr lang="en-US" sz="1350" dirty="0">
                        <a:latin typeface="Inter" charset="0"/>
                        <a:ea typeface="Inter" charset="0"/>
                        <a:cs typeface="Inter" charset="0"/>
                      </a:endParaRPr>
                    </a:p>
                  </a:txBody>
                  <a:tcPr marL="153577" marR="153577" marT="6350" marB="6350" anchor="ctr">
                    <a:lnL w="12700" cap="flat" cmpd="sng" algn="ctr">
                      <a:solidFill>
                        <a:srgbClr val="B2D4E5"/>
                      </a:solidFill>
                      <a:prstDash val="solid"/>
                      <a:round/>
                      <a:headEnd type="none" w="med" len="med"/>
                      <a:tailEnd type="none" w="med" len="med"/>
                    </a:lnL>
                    <a:lnR w="12700" cap="flat" cmpd="sng" algn="ctr">
                      <a:solidFill>
                        <a:srgbClr val="B2D4E5"/>
                      </a:solidFill>
                      <a:prstDash val="solid"/>
                      <a:round/>
                      <a:headEnd type="none" w="med" len="med"/>
                      <a:tailEnd type="none" w="med" len="med"/>
                    </a:lnR>
                    <a:lnT w="12700" cap="flat" cmpd="sng" algn="ctr">
                      <a:solidFill>
                        <a:srgbClr val="B2D4E5"/>
                      </a:solidFill>
                      <a:prstDash val="solid"/>
                      <a:round/>
                      <a:headEnd type="none" w="med" len="med"/>
                      <a:tailEnd type="none" w="med" len="med"/>
                    </a:lnT>
                    <a:lnB w="12700" cap="flat" cmpd="sng" algn="ctr">
                      <a:solidFill>
                        <a:srgbClr val="B2D4E5"/>
                      </a:solidFill>
                      <a:prstDash val="solid"/>
                      <a:round/>
                      <a:headEnd type="none" w="med" len="med"/>
                      <a:tailEnd type="none" w="med" len="med"/>
                    </a:lnB>
                  </a:tcPr>
                </a:tc>
              </a:tr>
              <a:tr h="374904">
                <a:tc>
                  <a:txBody>
                    <a:bodyPr/>
                    <a:lstStyle/>
                    <a:p>
                      <a:pPr algn="l" indent="0" marL="0">
                        <a:buNone/>
                      </a:pPr>
                      <a:r>
                        <a:rPr lang="en-US" sz="1350" dirty="0">
                          <a:solidFill>
                            <a:srgbClr val="272525"/>
                          </a:solidFill>
                          <a:latin typeface="Inter" pitchFamily="34" charset="0"/>
                          <a:ea typeface="Inter" pitchFamily="34" charset="-122"/>
                          <a:cs typeface="Inter" pitchFamily="34" charset="-120"/>
                        </a:rPr>
                        <a:t>Working memory needed</a:t>
                      </a:r>
                      <a:endParaRPr lang="en-US" sz="1350" dirty="0">
                        <a:latin typeface="Inter" charset="0"/>
                        <a:ea typeface="Inter" charset="0"/>
                        <a:cs typeface="Inter" charset="0"/>
                      </a:endParaRPr>
                    </a:p>
                  </a:txBody>
                  <a:tcPr marL="153577" marR="153577" marT="6350" marB="6350" anchor="ctr">
                    <a:lnL w="12700" cap="flat" cmpd="sng" algn="ctr">
                      <a:solidFill>
                        <a:srgbClr val="B2D4E5"/>
                      </a:solidFill>
                      <a:prstDash val="solid"/>
                      <a:round/>
                      <a:headEnd type="none" w="med" len="med"/>
                      <a:tailEnd type="none" w="med" len="med"/>
                    </a:lnL>
                    <a:lnR w="12700" cap="flat" cmpd="sng" algn="ctr">
                      <a:solidFill>
                        <a:srgbClr val="B2D4E5"/>
                      </a:solidFill>
                      <a:prstDash val="solid"/>
                      <a:round/>
                      <a:headEnd type="none" w="med" len="med"/>
                      <a:tailEnd type="none" w="med" len="med"/>
                    </a:lnR>
                    <a:lnT w="12700" cap="flat" cmpd="sng" algn="ctr">
                      <a:solidFill>
                        <a:srgbClr val="B2D4E5"/>
                      </a:solidFill>
                      <a:prstDash val="solid"/>
                      <a:round/>
                      <a:headEnd type="none" w="med" len="med"/>
                      <a:tailEnd type="none" w="med" len="med"/>
                    </a:lnT>
                    <a:lnB w="12700" cap="flat" cmpd="sng" algn="ctr">
                      <a:solidFill>
                        <a:srgbClr val="B2D4E5"/>
                      </a:solidFill>
                      <a:prstDash val="solid"/>
                      <a:round/>
                      <a:headEnd type="none" w="med" len="med"/>
                      <a:tailEnd type="none" w="med" len="med"/>
                    </a:lnB>
                  </a:tcPr>
                </a:tc>
                <a:tc>
                  <a:txBody>
                    <a:bodyPr/>
                    <a:lstStyle/>
                    <a:p>
                      <a:pPr algn="l" indent="0" marL="0">
                        <a:buNone/>
                      </a:pPr>
                      <a:r>
                        <a:rPr lang="en-US" sz="1350" dirty="0">
                          <a:solidFill>
                            <a:srgbClr val="272525"/>
                          </a:solidFill>
                          <a:latin typeface="Inter" pitchFamily="34" charset="0"/>
                          <a:ea typeface="Inter" pitchFamily="34" charset="-122"/>
                          <a:cs typeface="Inter" pitchFamily="34" charset="-120"/>
                        </a:rPr>
                        <a:t>453.6 KB</a:t>
                      </a:r>
                      <a:endParaRPr lang="en-US" sz="1350" dirty="0">
                        <a:latin typeface="Inter" charset="0"/>
                        <a:ea typeface="Inter" charset="0"/>
                        <a:cs typeface="Inter" charset="0"/>
                      </a:endParaRPr>
                    </a:p>
                  </a:txBody>
                  <a:tcPr marL="153577" marR="153577" marT="6350" marB="6350" anchor="ctr">
                    <a:lnL w="12700" cap="flat" cmpd="sng" algn="ctr">
                      <a:solidFill>
                        <a:srgbClr val="B2D4E5"/>
                      </a:solidFill>
                      <a:prstDash val="solid"/>
                      <a:round/>
                      <a:headEnd type="none" w="med" len="med"/>
                      <a:tailEnd type="none" w="med" len="med"/>
                    </a:lnL>
                    <a:lnR w="12700" cap="flat" cmpd="sng" algn="ctr">
                      <a:solidFill>
                        <a:srgbClr val="B2D4E5"/>
                      </a:solidFill>
                      <a:prstDash val="solid"/>
                      <a:round/>
                      <a:headEnd type="none" w="med" len="med"/>
                      <a:tailEnd type="none" w="med" len="med"/>
                    </a:lnR>
                    <a:lnT w="12700" cap="flat" cmpd="sng" algn="ctr">
                      <a:solidFill>
                        <a:srgbClr val="B2D4E5"/>
                      </a:solidFill>
                      <a:prstDash val="solid"/>
                      <a:round/>
                      <a:headEnd type="none" w="med" len="med"/>
                      <a:tailEnd type="none" w="med" len="med"/>
                    </a:lnT>
                    <a:lnB w="12700" cap="flat" cmpd="sng" algn="ctr">
                      <a:solidFill>
                        <a:srgbClr val="B2D4E5"/>
                      </a:solidFill>
                      <a:prstDash val="solid"/>
                      <a:round/>
                      <a:headEnd type="none" w="med" len="med"/>
                      <a:tailEnd type="none" w="med" len="med"/>
                    </a:lnB>
                  </a:tcPr>
                </a:tc>
              </a:tr>
            </a:tbl>
          </a:graphicData>
        </a:graphic>
      </p:graphicFrame>
      <p:sp>
        <p:nvSpPr>
          <p:cNvPr id="4" name="Shape 1"/>
          <p:cNvSpPr/>
          <p:nvPr/>
        </p:nvSpPr>
        <p:spPr>
          <a:xfrm>
            <a:off x="661475" y="4069080"/>
            <a:ext cx="10868745" cy="914400"/>
          </a:xfrm>
          <a:prstGeom prst="roundRect">
            <a:avLst>
              <a:gd name="adj" fmla="val 7421"/>
            </a:avLst>
          </a:prstGeom>
          <a:solidFill>
            <a:srgbClr val="CCEEFF"/>
          </a:solidFill>
          <a:ln w="6350">
            <a:solidFill>
              <a:srgbClr val="B2D4E5"/>
            </a:solidFill>
            <a:prstDash val="solid"/>
          </a:ln>
        </p:spPr>
      </p:sp>
      <p:sp>
        <p:nvSpPr>
          <p:cNvPr id="5" name="Shape 2"/>
          <p:cNvSpPr/>
          <p:nvPr/>
        </p:nvSpPr>
        <p:spPr>
          <a:xfrm>
            <a:off x="667825" y="4069080"/>
            <a:ext cx="5428023" cy="914400"/>
          </a:xfrm>
          <a:custGeom>
            <a:avLst/>
            <a:gdLst/>
            <a:ahLst/>
            <a:cxnLst/>
            <a:rect l="l" t="t" r="r" b="b"/>
            <a:pathLst>
              <a:path w="5428023" h="856456">
                <a:moveTo>
                  <a:pt x="53752" y="0"/>
                </a:moveTo>
                <a:lnTo>
                  <a:pt x="5428023" y="0"/>
                </a:lnTo>
                <a:lnTo>
                  <a:pt x="5428023" y="856456"/>
                </a:lnTo>
                <a:lnTo>
                  <a:pt x="53752" y="856456"/>
                </a:lnTo>
                <a:arcTo hR="53754" wR="53752" stAng="5400000" swAng="5400000"/>
                <a:lnTo>
                  <a:pt x="0" y="53754"/>
                </a:lnTo>
                <a:arcTo hR="53754" wR="53752" stAng="10800000" swAng="5400000"/>
                <a:close/>
              </a:path>
            </a:pathLst>
          </a:custGeom>
          <a:solidFill>
            <a:srgbClr val="CCEEFF"/>
          </a:solidFill>
          <a:ln/>
        </p:spPr>
      </p:sp>
      <p:sp>
        <p:nvSpPr>
          <p:cNvPr id="6" name="Text 3"/>
          <p:cNvSpPr/>
          <p:nvPr/>
        </p:nvSpPr>
        <p:spPr>
          <a:xfrm>
            <a:off x="821312" y="4206240"/>
            <a:ext cx="5121048" cy="252016"/>
          </a:xfrm>
          <a:prstGeom prst="rect">
            <a:avLst/>
          </a:prstGeom>
          <a:noFill/>
          <a:ln/>
        </p:spPr>
        <p:txBody>
          <a:bodyPr wrap="none" lIns="0" tIns="0" rIns="0" bIns="0" rtlCol="0" anchor="t"/>
          <a:lstStyle/>
          <a:p>
            <a:pPr algn="l" indent="0" marL="0">
              <a:lnSpc>
                <a:spcPct val="104000"/>
              </a:lnSpc>
              <a:buNone/>
            </a:pPr>
            <a:r>
              <a:rPr lang="en-US" sz="1550" b="1" dirty="0">
                <a:solidFill>
                  <a:srgbClr val="272525"/>
                </a:solidFill>
                <a:latin typeface="Petrona Bold" pitchFamily="34" charset="0"/>
                <a:ea typeface="Petrona Bold" pitchFamily="34" charset="-122"/>
                <a:cs typeface="Petrona Bold" pitchFamily="34" charset="-120"/>
              </a:rPr>
              <a:t>Fits Flash</a:t>
            </a:r>
            <a:endParaRPr lang="en-US" sz="1550" dirty="0"/>
          </a:p>
        </p:txBody>
      </p:sp>
      <p:sp>
        <p:nvSpPr>
          <p:cNvPr id="7" name="Text 4"/>
          <p:cNvSpPr/>
          <p:nvPr/>
        </p:nvSpPr>
        <p:spPr>
          <a:xfrm>
            <a:off x="821312" y="4544568"/>
            <a:ext cx="5121048" cy="457200"/>
          </a:xfrm>
          <a:prstGeom prst="rect">
            <a:avLst/>
          </a:prstGeom>
          <a:noFill/>
          <a:ln/>
        </p:spPr>
        <p:txBody>
          <a:bodyPr wrap="square" lIns="0" tIns="0" rIns="0" bIns="0" rtlCol="0" anchor="t"/>
          <a:lstStyle/>
          <a:p>
            <a:pPr algn="l" indent="0" marL="0">
              <a:lnSpc>
                <a:spcPct val="121000"/>
              </a:lnSpc>
              <a:buNone/>
            </a:pPr>
            <a:r>
              <a:rPr lang="en-US" sz="1300" dirty="0">
                <a:solidFill>
                  <a:srgbClr val="272525"/>
                </a:solidFill>
                <a:latin typeface="Inter" pitchFamily="34" charset="0"/>
                <a:ea typeface="Inter" pitchFamily="34" charset="-122"/>
                <a:cs typeface="Inter" pitchFamily="34" charset="-120"/>
              </a:rPr>
              <a:t>606.3 KB fits within 1 MB flash of Arduino Nano 33 BLE</a:t>
            </a:r>
            <a:endParaRPr lang="en-US" sz="1300" dirty="0"/>
          </a:p>
        </p:txBody>
      </p:sp>
      <p:sp>
        <p:nvSpPr>
          <p:cNvPr id="8" name="Shape 5"/>
          <p:cNvSpPr/>
          <p:nvPr/>
        </p:nvSpPr>
        <p:spPr>
          <a:xfrm>
            <a:off x="6095848" y="4069080"/>
            <a:ext cx="5428023" cy="914400"/>
          </a:xfrm>
          <a:custGeom>
            <a:avLst/>
            <a:gdLst/>
            <a:ahLst/>
            <a:cxnLst/>
            <a:rect l="l" t="t" r="r" b="b"/>
            <a:pathLst>
              <a:path w="5428023" h="856456">
                <a:moveTo>
                  <a:pt x="0" y="0"/>
                </a:moveTo>
                <a:lnTo>
                  <a:pt x="5374271" y="0"/>
                </a:lnTo>
                <a:arcTo hR="53754" wR="53752" stAng="16200000" swAng="5400000"/>
                <a:lnTo>
                  <a:pt x="5428023" y="802703"/>
                </a:lnTo>
                <a:arcTo hR="53754" wR="53752" stAng="0" swAng="5400000"/>
                <a:lnTo>
                  <a:pt x="0" y="856456"/>
                </a:lnTo>
                <a:lnTo>
                  <a:pt x="0" y="0"/>
                </a:lnTo>
                <a:close/>
              </a:path>
            </a:pathLst>
          </a:custGeom>
          <a:solidFill>
            <a:srgbClr val="CCEEFF"/>
          </a:solidFill>
          <a:ln/>
        </p:spPr>
      </p:sp>
      <p:sp>
        <p:nvSpPr>
          <p:cNvPr id="9" name="Shape 6"/>
          <p:cNvSpPr/>
          <p:nvPr/>
        </p:nvSpPr>
        <p:spPr>
          <a:xfrm>
            <a:off x="6095848" y="4069080"/>
            <a:ext cx="19050" cy="914400"/>
          </a:xfrm>
          <a:prstGeom prst="roundRect">
            <a:avLst>
              <a:gd name="adj" fmla="val 49999"/>
            </a:avLst>
          </a:prstGeom>
          <a:solidFill>
            <a:srgbClr val="B2D4E5"/>
          </a:solidFill>
          <a:ln/>
        </p:spPr>
      </p:sp>
      <p:sp>
        <p:nvSpPr>
          <p:cNvPr id="10" name="Text 7"/>
          <p:cNvSpPr/>
          <p:nvPr/>
        </p:nvSpPr>
        <p:spPr>
          <a:xfrm>
            <a:off x="6249335" y="4206240"/>
            <a:ext cx="5121048" cy="252016"/>
          </a:xfrm>
          <a:prstGeom prst="rect">
            <a:avLst/>
          </a:prstGeom>
          <a:noFill/>
          <a:ln/>
        </p:spPr>
        <p:txBody>
          <a:bodyPr wrap="none" lIns="0" tIns="0" rIns="0" bIns="0" rtlCol="0" anchor="t"/>
          <a:lstStyle/>
          <a:p>
            <a:pPr algn="l" indent="0" marL="0">
              <a:lnSpc>
                <a:spcPct val="104000"/>
              </a:lnSpc>
              <a:buNone/>
            </a:pPr>
            <a:r>
              <a:rPr lang="en-US" sz="1550" b="1" dirty="0">
                <a:solidFill>
                  <a:srgbClr val="272525"/>
                </a:solidFill>
                <a:latin typeface="Petrona Bold" pitchFamily="34" charset="0"/>
                <a:ea typeface="Petrona Bold" pitchFamily="34" charset="-122"/>
                <a:cs typeface="Petrona Bold" pitchFamily="34" charset="-120"/>
              </a:rPr>
              <a:t>Does Not Fit RAM</a:t>
            </a:r>
            <a:endParaRPr lang="en-US" sz="1550" dirty="0"/>
          </a:p>
        </p:txBody>
      </p:sp>
      <p:sp>
        <p:nvSpPr>
          <p:cNvPr id="11" name="Text 8"/>
          <p:cNvSpPr/>
          <p:nvPr/>
        </p:nvSpPr>
        <p:spPr>
          <a:xfrm>
            <a:off x="6249335" y="4544568"/>
            <a:ext cx="5121048" cy="457200"/>
          </a:xfrm>
          <a:prstGeom prst="rect">
            <a:avLst/>
          </a:prstGeom>
          <a:noFill/>
          <a:ln/>
        </p:spPr>
        <p:txBody>
          <a:bodyPr wrap="square" lIns="0" tIns="0" rIns="0" bIns="0" rtlCol="0" anchor="t"/>
          <a:lstStyle/>
          <a:p>
            <a:pPr algn="l" indent="0" marL="0">
              <a:lnSpc>
                <a:spcPct val="121000"/>
              </a:lnSpc>
              <a:buNone/>
            </a:pPr>
            <a:r>
              <a:rPr lang="en-US" sz="1300" dirty="0">
                <a:solidFill>
                  <a:srgbClr val="272525"/>
                </a:solidFill>
                <a:latin typeface="Inter" pitchFamily="34" charset="0"/>
                <a:ea typeface="Inter" pitchFamily="34" charset="-122"/>
                <a:cs typeface="Inter" pitchFamily="34" charset="-120"/>
              </a:rPr>
              <a:t>453.6 KB exceeds the 256 KB RAM of Arduino Nano 33 BLE</a:t>
            </a:r>
            <a:endParaRPr lang="en-US" sz="1300" dirty="0"/>
          </a:p>
        </p:txBody>
      </p:sp>
      <p:sp>
        <p:nvSpPr>
          <p:cNvPr id="12" name="Text 9"/>
          <p:cNvSpPr/>
          <p:nvPr/>
        </p:nvSpPr>
        <p:spPr>
          <a:xfrm>
            <a:off x="661475" y="5138928"/>
            <a:ext cx="10872216" cy="274320"/>
          </a:xfrm>
          <a:prstGeom prst="rect">
            <a:avLst/>
          </a:prstGeom>
          <a:noFill/>
          <a:ln/>
        </p:spPr>
        <p:txBody>
          <a:bodyPr wrap="square" lIns="0" tIns="0" rIns="0" bIns="0" rtlCol="0" anchor="t"/>
          <a:lstStyle/>
          <a:p>
            <a:pPr algn="l" indent="0" marL="0">
              <a:lnSpc>
                <a:spcPct val="121000"/>
              </a:lnSpc>
              <a:buNone/>
            </a:pPr>
            <a:r>
              <a:rPr lang="en-US" sz="1350" dirty="0">
                <a:solidFill>
                  <a:srgbClr val="272525"/>
                </a:solidFill>
                <a:latin typeface="Inter" pitchFamily="34" charset="0"/>
                <a:ea typeface="Inter" pitchFamily="34" charset="-122"/>
                <a:cs typeface="Inter" pitchFamily="34" charset="-120"/>
              </a:rPr>
              <a:t>Target today: microcontrollers with 512 KB or more of RAM, or a small single-board computer.</a:t>
            </a:r>
            <a:endParaRPr lang="en-US" sz="1350" dirty="0"/>
          </a:p>
        </p:txBody>
      </p:sp>
      <p:sp>
        <p:nvSpPr>
          <p:cNvPr id="13" name="Shape 10"/>
          <p:cNvSpPr/>
          <p:nvPr/>
        </p:nvSpPr>
        <p:spPr>
          <a:xfrm>
            <a:off x="661475" y="5577840"/>
            <a:ext cx="10868745" cy="777240"/>
          </a:xfrm>
          <a:prstGeom prst="roundRect">
            <a:avLst>
              <a:gd name="adj" fmla="val 8500"/>
            </a:avLst>
          </a:prstGeom>
          <a:solidFill>
            <a:srgbClr val="CCEEFF"/>
          </a:solidFill>
          <a:ln/>
        </p:spPr>
      </p:sp>
      <p:pic>
        <p:nvPicPr>
          <p:cNvPr id="14" name="Image 0" descr="preencoded.png">    </p:cNvPr>
          <p:cNvPicPr>
            <a:picLocks noChangeAspect="1"/>
          </p:cNvPicPr>
          <p:nvPr/>
        </p:nvPicPr>
        <p:blipFill>
          <a:blip r:embed="rId1"/>
          <a:stretch>
            <a:fillRect/>
          </a:stretch>
        </p:blipFill>
        <p:spPr>
          <a:xfrm>
            <a:off x="814962" y="5760720"/>
            <a:ext cx="191884" cy="153491"/>
          </a:xfrm>
          <a:prstGeom prst="rect">
            <a:avLst/>
          </a:prstGeom>
        </p:spPr>
      </p:pic>
      <p:sp>
        <p:nvSpPr>
          <p:cNvPr id="15" name="Text 11"/>
          <p:cNvSpPr/>
          <p:nvPr/>
        </p:nvSpPr>
        <p:spPr>
          <a:xfrm>
            <a:off x="1160334" y="5715000"/>
            <a:ext cx="10216398" cy="548640"/>
          </a:xfrm>
          <a:prstGeom prst="rect">
            <a:avLst/>
          </a:prstGeom>
          <a:noFill/>
          <a:ln/>
        </p:spPr>
        <p:txBody>
          <a:bodyPr wrap="square" lIns="0" tIns="0" rIns="0" bIns="0" rtlCol="0" anchor="t"/>
          <a:lstStyle/>
          <a:p>
            <a:pPr algn="l" indent="0" marL="0">
              <a:lnSpc>
                <a:spcPct val="110000"/>
              </a:lnSpc>
              <a:buNone/>
            </a:pPr>
            <a:r>
              <a:rPr lang="en-US" sz="1300" dirty="0">
                <a:solidFill>
                  <a:srgbClr val="000000"/>
                </a:solidFill>
                <a:latin typeface="Inter" pitchFamily="34" charset="0"/>
                <a:ea typeface="Inter" pitchFamily="34" charset="-122"/>
                <a:cs typeface="Inter" pitchFamily="34" charset="-120"/>
              </a:rPr>
              <a:t>This card presents the TinyML deployment specifications. The INT8 model fits within the flash storage of common microcontrollers but exceeds their RAM, pointing to devices with at least 512 KB of RAM as the realistic target platform.</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715466"/>
            <a:ext cx="10868745" cy="600869"/>
          </a:xfrm>
          <a:prstGeom prst="rect">
            <a:avLst/>
          </a:prstGeom>
          <a:noFill/>
          <a:ln/>
        </p:spPr>
        <p:txBody>
          <a:bodyPr wrap="none" lIns="0" tIns="0" rIns="0" bIns="0" rtlCol="0" anchor="t"/>
          <a:lstStyle/>
          <a:p>
            <a:pPr algn="l" indent="0" marL="0">
              <a:lnSpc>
                <a:spcPct val="104000"/>
              </a:lnSpc>
              <a:buNone/>
            </a:pPr>
            <a:r>
              <a:rPr lang="en-US" sz="3750" b="1" dirty="0">
                <a:solidFill>
                  <a:srgbClr val="000000"/>
                </a:solidFill>
                <a:latin typeface="Petrona Bold" pitchFamily="34" charset="0"/>
                <a:ea typeface="Petrona Bold" pitchFamily="34" charset="-122"/>
                <a:cs typeface="Petrona Bold" pitchFamily="34" charset="-120"/>
              </a:rPr>
              <a:t>What We Learned, and What Is Next</a:t>
            </a:r>
            <a:endParaRPr lang="en-US" sz="37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671042"/>
            <a:ext cx="5345673" cy="1400473"/>
          </a:xfrm>
          <a:prstGeom prst="rect">
            <a:avLst/>
          </a:prstGeom>
        </p:spPr>
      </p:pic>
      <p:sp>
        <p:nvSpPr>
          <p:cNvPr id="4" name="Text 1"/>
          <p:cNvSpPr/>
          <p:nvPr/>
        </p:nvSpPr>
        <p:spPr>
          <a:xfrm>
            <a:off x="971526" y="1879501"/>
            <a:ext cx="4827169" cy="300335"/>
          </a:xfrm>
          <a:prstGeom prst="rect">
            <a:avLst/>
          </a:prstGeom>
          <a:noFill/>
          <a:ln/>
        </p:spPr>
        <p:txBody>
          <a:bodyPr wrap="square" lIns="0" tIns="0" rIns="0" bIns="0" rtlCol="0" anchor="t"/>
          <a:lstStyle/>
          <a:p>
            <a:pPr algn="l" indent="0" marL="0">
              <a:lnSpc>
                <a:spcPct val="104000"/>
              </a:lnSpc>
              <a:buNone/>
            </a:pPr>
            <a:r>
              <a:rPr lang="en-US" sz="1800" b="1" dirty="0">
                <a:solidFill>
                  <a:srgbClr val="272525"/>
                </a:solidFill>
                <a:latin typeface="Petrona Bold" pitchFamily="34" charset="0"/>
                <a:ea typeface="Petrona Bold" pitchFamily="34" charset="-122"/>
                <a:cs typeface="Petrona Bold" pitchFamily="34" charset="-120"/>
              </a:rPr>
              <a:t>Duplicate audit changed the study</a:t>
            </a:r>
            <a:endParaRPr lang="en-US" sz="1800" dirty="0"/>
          </a:p>
        </p:txBody>
      </p:sp>
      <p:sp>
        <p:nvSpPr>
          <p:cNvPr id="5" name="Text 2"/>
          <p:cNvSpPr/>
          <p:nvPr/>
        </p:nvSpPr>
        <p:spPr>
          <a:xfrm>
            <a:off x="971526" y="2286198"/>
            <a:ext cx="4827169" cy="576858"/>
          </a:xfrm>
          <a:prstGeom prst="rect">
            <a:avLst/>
          </a:prstGeom>
          <a:noFill/>
          <a:ln/>
        </p:spPr>
        <p:txBody>
          <a:bodyPr wrap="square" lIns="0" tIns="0" rIns="0" bIns="0" rtlCol="0" anchor="t"/>
          <a:lstStyle/>
          <a:p>
            <a:pPr algn="l" indent="0" marL="0">
              <a:lnSpc>
                <a:spcPct val="131000"/>
              </a:lnSpc>
              <a:buNone/>
            </a:pPr>
            <a:r>
              <a:rPr lang="en-US" sz="1400" dirty="0">
                <a:solidFill>
                  <a:srgbClr val="272525"/>
                </a:solidFill>
                <a:latin typeface="Inter" pitchFamily="34" charset="0"/>
                <a:ea typeface="Inter" pitchFamily="34" charset="-122"/>
                <a:cs typeface="Inter" pitchFamily="34" charset="-120"/>
              </a:rPr>
              <a:t>The standard merged benchmark cannot be treated as independent data.</a:t>
            </a:r>
            <a:endParaRPr lang="en-US" sz="14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84448" y="1671042"/>
            <a:ext cx="5345773" cy="1400473"/>
          </a:xfrm>
          <a:prstGeom prst="rect">
            <a:avLst/>
          </a:prstGeom>
        </p:spPr>
      </p:pic>
      <p:sp>
        <p:nvSpPr>
          <p:cNvPr id="7" name="Text 3"/>
          <p:cNvSpPr/>
          <p:nvPr/>
        </p:nvSpPr>
        <p:spPr>
          <a:xfrm>
            <a:off x="6494498" y="1879501"/>
            <a:ext cx="4827268" cy="300335"/>
          </a:xfrm>
          <a:prstGeom prst="rect">
            <a:avLst/>
          </a:prstGeom>
          <a:noFill/>
          <a:ln/>
        </p:spPr>
        <p:txBody>
          <a:bodyPr wrap="square" lIns="0" tIns="0" rIns="0" bIns="0" rtlCol="0" anchor="t"/>
          <a:lstStyle/>
          <a:p>
            <a:pPr algn="l" indent="0" marL="0">
              <a:lnSpc>
                <a:spcPct val="104000"/>
              </a:lnSpc>
              <a:buNone/>
            </a:pPr>
            <a:r>
              <a:rPr lang="en-US" sz="1800" b="1" dirty="0">
                <a:solidFill>
                  <a:srgbClr val="272525"/>
                </a:solidFill>
                <a:latin typeface="Petrona Bold" pitchFamily="34" charset="0"/>
                <a:ea typeface="Petrona Bold" pitchFamily="34" charset="-122"/>
                <a:cs typeface="Petrona Bold" pitchFamily="34" charset="-120"/>
              </a:rPr>
              <a:t>Unlabeled recalibration was the largest gain</a:t>
            </a:r>
            <a:endParaRPr lang="en-US" sz="1800" dirty="0"/>
          </a:p>
        </p:txBody>
      </p:sp>
      <p:sp>
        <p:nvSpPr>
          <p:cNvPr id="8" name="Text 4"/>
          <p:cNvSpPr/>
          <p:nvPr/>
        </p:nvSpPr>
        <p:spPr>
          <a:xfrm>
            <a:off x="6494498" y="2286198"/>
            <a:ext cx="4827268" cy="576858"/>
          </a:xfrm>
          <a:prstGeom prst="rect">
            <a:avLst/>
          </a:prstGeom>
          <a:noFill/>
          <a:ln/>
        </p:spPr>
        <p:txBody>
          <a:bodyPr wrap="square" lIns="0" tIns="0" rIns="0" bIns="0" rtlCol="0" anchor="t"/>
          <a:lstStyle/>
          <a:p>
            <a:pPr algn="l" indent="0" marL="0">
              <a:lnSpc>
                <a:spcPct val="131000"/>
              </a:lnSpc>
              <a:buNone/>
            </a:pPr>
            <a:r>
              <a:rPr lang="en-US" sz="1400" dirty="0">
                <a:solidFill>
                  <a:srgbClr val="272525"/>
                </a:solidFill>
                <a:latin typeface="Inter" pitchFamily="34" charset="0"/>
                <a:ea typeface="Inter" pitchFamily="34" charset="-122"/>
                <a:cs typeface="Inter" pitchFamily="34" charset="-120"/>
              </a:rPr>
              <a:t>Recalibrating batch-norm at the new hospital mattered more than the federated algorithm.</a:t>
            </a:r>
            <a:endParaRPr lang="en-US" sz="140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248819"/>
            <a:ext cx="5345673" cy="1977330"/>
          </a:xfrm>
          <a:prstGeom prst="rect">
            <a:avLst/>
          </a:prstGeom>
        </p:spPr>
      </p:pic>
      <p:sp>
        <p:nvSpPr>
          <p:cNvPr id="10" name="Text 5"/>
          <p:cNvSpPr/>
          <p:nvPr/>
        </p:nvSpPr>
        <p:spPr>
          <a:xfrm>
            <a:off x="971526" y="3457277"/>
            <a:ext cx="4827169" cy="300335"/>
          </a:xfrm>
          <a:prstGeom prst="rect">
            <a:avLst/>
          </a:prstGeom>
          <a:noFill/>
          <a:ln/>
        </p:spPr>
        <p:txBody>
          <a:bodyPr wrap="square" lIns="0" tIns="0" rIns="0" bIns="0" rtlCol="0" anchor="t"/>
          <a:lstStyle/>
          <a:p>
            <a:pPr algn="l" indent="0" marL="0">
              <a:lnSpc>
                <a:spcPct val="104000"/>
              </a:lnSpc>
              <a:buNone/>
            </a:pPr>
            <a:r>
              <a:rPr lang="en-US" sz="1800" b="1" dirty="0">
                <a:solidFill>
                  <a:srgbClr val="272525"/>
                </a:solidFill>
                <a:latin typeface="Petrona Bold" pitchFamily="34" charset="0"/>
                <a:ea typeface="Petrona Bold" pitchFamily="34" charset="-122"/>
                <a:cs typeface="Petrona Bold" pitchFamily="34" charset="-120"/>
              </a:rPr>
              <a:t>Our hypothesis was not supported</a:t>
            </a:r>
            <a:endParaRPr lang="en-US" sz="1800" dirty="0"/>
          </a:p>
        </p:txBody>
      </p:sp>
      <p:sp>
        <p:nvSpPr>
          <p:cNvPr id="11" name="Text 6"/>
          <p:cNvSpPr/>
          <p:nvPr/>
        </p:nvSpPr>
        <p:spPr>
          <a:xfrm>
            <a:off x="971526" y="3863975"/>
            <a:ext cx="4827169" cy="576858"/>
          </a:xfrm>
          <a:prstGeom prst="rect">
            <a:avLst/>
          </a:prstGeom>
          <a:noFill/>
          <a:ln/>
        </p:spPr>
        <p:txBody>
          <a:bodyPr wrap="square" lIns="0" tIns="0" rIns="0" bIns="0" rtlCol="0" anchor="t"/>
          <a:lstStyle/>
          <a:p>
            <a:pPr algn="l" indent="0" marL="0">
              <a:lnSpc>
                <a:spcPct val="131000"/>
              </a:lnSpc>
              <a:buNone/>
            </a:pPr>
            <a:r>
              <a:rPr lang="en-US" sz="1400" dirty="0">
                <a:solidFill>
                  <a:srgbClr val="272525"/>
                </a:solidFill>
                <a:latin typeface="Inter" pitchFamily="34" charset="0"/>
                <a:ea typeface="Inter" pitchFamily="34" charset="-122"/>
                <a:cs typeface="Inter" pitchFamily="34" charset="-120"/>
              </a:rPr>
              <a:t>We report the negative result with the measurement that exposes it.</a:t>
            </a:r>
            <a:endParaRPr lang="en-US" sz="140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84448" y="3248819"/>
            <a:ext cx="5345773" cy="1977330"/>
          </a:xfrm>
          <a:prstGeom prst="rect">
            <a:avLst/>
          </a:prstGeom>
        </p:spPr>
      </p:pic>
      <p:sp>
        <p:nvSpPr>
          <p:cNvPr id="13" name="Text 7"/>
          <p:cNvSpPr/>
          <p:nvPr/>
        </p:nvSpPr>
        <p:spPr>
          <a:xfrm>
            <a:off x="6494498" y="3457277"/>
            <a:ext cx="4827268" cy="300335"/>
          </a:xfrm>
          <a:prstGeom prst="rect">
            <a:avLst/>
          </a:prstGeom>
          <a:noFill/>
          <a:ln/>
        </p:spPr>
        <p:txBody>
          <a:bodyPr wrap="square" lIns="0" tIns="0" rIns="0" bIns="0" rtlCol="0" anchor="t"/>
          <a:lstStyle/>
          <a:p>
            <a:pPr algn="l" indent="0" marL="0">
              <a:lnSpc>
                <a:spcPct val="104000"/>
              </a:lnSpc>
              <a:buNone/>
            </a:pPr>
            <a:r>
              <a:rPr lang="en-US" sz="1800" b="1" dirty="0">
                <a:solidFill>
                  <a:srgbClr val="272525"/>
                </a:solidFill>
                <a:latin typeface="Petrona Bold" pitchFamily="34" charset="0"/>
                <a:ea typeface="Petrona Bold" pitchFamily="34" charset="-122"/>
                <a:cs typeface="Petrona Bold" pitchFamily="34" charset="-120"/>
              </a:rPr>
              <a:t>Next steps</a:t>
            </a:r>
            <a:endParaRPr lang="en-US" sz="1800" dirty="0"/>
          </a:p>
        </p:txBody>
      </p:sp>
      <p:sp>
        <p:nvSpPr>
          <p:cNvPr id="14" name="Text 8"/>
          <p:cNvSpPr/>
          <p:nvPr/>
        </p:nvSpPr>
        <p:spPr>
          <a:xfrm>
            <a:off x="6494498" y="3863975"/>
            <a:ext cx="4827268" cy="1153716"/>
          </a:xfrm>
          <a:prstGeom prst="rect">
            <a:avLst/>
          </a:prstGeom>
          <a:noFill/>
          <a:ln/>
        </p:spPr>
        <p:txBody>
          <a:bodyPr wrap="square" lIns="0" tIns="0" rIns="0" bIns="0" rtlCol="0" anchor="t"/>
          <a:lstStyle/>
          <a:p>
            <a:pPr algn="l" indent="0" marL="0">
              <a:lnSpc>
                <a:spcPct val="131000"/>
              </a:lnSpc>
              <a:buNone/>
            </a:pPr>
            <a:r>
              <a:rPr lang="en-US" sz="1400" dirty="0">
                <a:solidFill>
                  <a:srgbClr val="272525"/>
                </a:solidFill>
                <a:latin typeface="Inter" pitchFamily="34" charset="0"/>
                <a:ea typeface="Inter" pitchFamily="34" charset="-122"/>
                <a:cs typeface="Inter" pitchFamily="34" charset="-120"/>
              </a:rPr>
              <a:t>Scale lambda to the quantization step and sweep it; class-aware aggregation for a class held by one site; a smaller network for 256 KB devices; multi-seed centralized baselines.</a:t>
            </a:r>
            <a:endParaRPr lang="en-US" sz="1400" dirty="0"/>
          </a:p>
        </p:txBody>
      </p:sp>
      <p:sp>
        <p:nvSpPr>
          <p:cNvPr id="15" name="Shape 9"/>
          <p:cNvSpPr/>
          <p:nvPr/>
        </p:nvSpPr>
        <p:spPr>
          <a:xfrm>
            <a:off x="661475" y="5425678"/>
            <a:ext cx="10868745" cy="716855"/>
          </a:xfrm>
          <a:prstGeom prst="roundRect">
            <a:avLst>
              <a:gd name="adj" fmla="val 10728"/>
            </a:avLst>
          </a:prstGeom>
          <a:solidFill>
            <a:srgbClr val="CCEEFF"/>
          </a:solidFill>
          <a:ln/>
        </p:spPr>
      </p:sp>
      <p:pic>
        <p:nvPicPr>
          <p:cNvPr id="16" name="Image 4" descr="preencoded.png">    </p:cNvPr>
          <p:cNvPicPr>
            <a:picLocks noChangeAspect="1"/>
          </p:cNvPicPr>
          <p:nvPr/>
        </p:nvPicPr>
        <p:blipFill>
          <a:blip r:embed="rId9"/>
          <a:stretch>
            <a:fillRect/>
          </a:stretch>
        </p:blipFill>
        <p:spPr>
          <a:xfrm>
            <a:off x="844529" y="5678984"/>
            <a:ext cx="228793" cy="183059"/>
          </a:xfrm>
          <a:prstGeom prst="rect">
            <a:avLst/>
          </a:prstGeom>
        </p:spPr>
      </p:pic>
      <p:sp>
        <p:nvSpPr>
          <p:cNvPr id="17" name="Text 10"/>
          <p:cNvSpPr/>
          <p:nvPr/>
        </p:nvSpPr>
        <p:spPr>
          <a:xfrm>
            <a:off x="1256376" y="5648722"/>
            <a:ext cx="10149840" cy="288429"/>
          </a:xfrm>
          <a:prstGeom prst="rect">
            <a:avLst/>
          </a:prstGeom>
          <a:noFill/>
          <a:ln/>
        </p:spPr>
        <p:txBody>
          <a:bodyPr wrap="square" lIns="0" tIns="0" rIns="0" bIns="0" rtlCol="0" anchor="t"/>
          <a:lstStyle/>
          <a:p>
            <a:pPr algn="l" indent="0" marL="0">
              <a:lnSpc>
                <a:spcPct val="131000"/>
              </a:lnSpc>
              <a:buNone/>
            </a:pPr>
            <a:r>
              <a:rPr lang="en-US" sz="1400" dirty="0">
                <a:solidFill>
                  <a:srgbClr val="000000"/>
                </a:solidFill>
                <a:latin typeface="Inter" pitchFamily="34" charset="0"/>
                <a:ea typeface="Inter" pitchFamily="34" charset="-122"/>
                <a:cs typeface="Inter" pitchFamily="34" charset="-120"/>
              </a:rPr>
              <a:t>The pipeline is reproducible on Kaggle end to end, and the paper reports every number shown here.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07EBD"/>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2026-09-27T22:27:01Z</dcterms:created>
  <dcterms:modified xsi:type="dcterms:W3CDTF">2026-09-27T22:27:01Z</dcterms:modified>
</cp:coreProperties>
</file>